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DM Sans Semi Bold"/>
      <p:regular r:id="rId17"/>
    </p:embeddedFont>
    <p:embeddedFont>
      <p:font typeface="DM Sans Semi Bold"/>
      <p:regular r:id="rId18"/>
    </p:embeddedFont>
    <p:embeddedFont>
      <p:font typeface="DM Sans Semi Bold"/>
      <p:regular r:id="rId19"/>
    </p:embeddedFont>
    <p:embeddedFont>
      <p:font typeface="DM Sans Semi Bold"/>
      <p:regular r:id="rId20"/>
    </p:embeddedFont>
    <p:embeddedFont>
      <p:font typeface="Inter Medium"/>
      <p:regular r:id="rId21"/>
    </p:embeddedFont>
    <p:embeddedFont>
      <p:font typeface="Inter Medium"/>
      <p:regular r:id="rId22"/>
    </p:embeddedFont>
    <p:embeddedFont>
      <p:font typeface="Inter Medium"/>
      <p:regular r:id="rId23"/>
    </p:embeddedFont>
    <p:embeddedFont>
      <p:font typeface="Inter Medium"/>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slideLayout" Target="../slideLayouts/slideLayout10.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7" Type="http://schemas.openxmlformats.org/officeDocument/2006/relationships/hyperlink" Target="https://github.com/BalaAnbalagan/DS-Methodologies" TargetMode="External"/><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8" Type="http://schemas.openxmlformats.org/officeDocument/2006/relationships/slideLayout" Target="../slideLayouts/slideLayout1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487567"/>
            <a:ext cx="7556421" cy="3721179"/>
          </a:xfrm>
          <a:prstGeom prst="rect">
            <a:avLst/>
          </a:prstGeom>
          <a:noFill/>
          <a:ln/>
        </p:spPr>
        <p:txBody>
          <a:bodyPr wrap="square" lIns="0" tIns="0" rIns="0" bIns="0" rtlCol="0" anchor="t"/>
          <a:lstStyle/>
          <a:p>
            <a:pPr algn="l" indent="0" marL="0">
              <a:lnSpc>
                <a:spcPts val="9750"/>
              </a:lnSpc>
              <a:buNone/>
            </a:pPr>
            <a:r>
              <a:rPr lang="en-US" sz="7800" dirty="0">
                <a:solidFill>
                  <a:srgbClr val="030303"/>
                </a:solidFill>
                <a:latin typeface="DM Sans Semi Bold" pitchFamily="34" charset="0"/>
                <a:ea typeface="DM Sans Semi Bold" pitchFamily="34" charset="-122"/>
                <a:cs typeface="DM Sans Semi Bold" pitchFamily="34" charset="-120"/>
              </a:rPr>
              <a:t>Data Science Methodologies Portfolio</a:t>
            </a:r>
            <a:endParaRPr lang="en-US" sz="7800" dirty="0"/>
          </a:p>
        </p:txBody>
      </p:sp>
      <p:sp>
        <p:nvSpPr>
          <p:cNvPr id="4" name="Text 1"/>
          <p:cNvSpPr/>
          <p:nvPr/>
        </p:nvSpPr>
        <p:spPr>
          <a:xfrm>
            <a:off x="6280190" y="5506403"/>
            <a:ext cx="7556421" cy="620316"/>
          </a:xfrm>
          <a:prstGeom prst="rect">
            <a:avLst/>
          </a:prstGeom>
          <a:noFill/>
          <a:ln/>
        </p:spPr>
        <p:txBody>
          <a:bodyPr wrap="squar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Comparing CRISP-DM, SEMMA &amp; KDD for Credit Card Fraud Detection</a:t>
            </a:r>
            <a:endParaRPr lang="en-US" sz="1950" dirty="0"/>
          </a:p>
        </p:txBody>
      </p:sp>
      <p:sp>
        <p:nvSpPr>
          <p:cNvPr id="5" name="Text 2"/>
          <p:cNvSpPr/>
          <p:nvPr/>
        </p:nvSpPr>
        <p:spPr>
          <a:xfrm>
            <a:off x="6280190" y="6424374"/>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Bala Anbalagan | San Jose State University</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80229"/>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Three Methodologies, One Challenge</a:t>
            </a:r>
            <a:endParaRPr lang="en-US" sz="3900" dirty="0"/>
          </a:p>
        </p:txBody>
      </p:sp>
      <p:sp>
        <p:nvSpPr>
          <p:cNvPr id="4" name="Text 1"/>
          <p:cNvSpPr/>
          <p:nvPr/>
        </p:nvSpPr>
        <p:spPr>
          <a:xfrm>
            <a:off x="793790" y="2418040"/>
            <a:ext cx="7556421" cy="1587698"/>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This portfolio compares three fundamental data mining methodologies by applying each to the same problem: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Credit Card Fraud Detection</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Using a dataset of 284,807 European credit card transactions with only 492 frauds—a mere 0.17% rate—we demonstrate how methodology choice impacts approach, results, and real-world applicability.</a:t>
            </a:r>
            <a:endParaRPr lang="en-US" sz="1550" dirty="0"/>
          </a:p>
        </p:txBody>
      </p:sp>
      <p:sp>
        <p:nvSpPr>
          <p:cNvPr id="5" name="Shape 2"/>
          <p:cNvSpPr/>
          <p:nvPr/>
        </p:nvSpPr>
        <p:spPr>
          <a:xfrm>
            <a:off x="793790" y="4228981"/>
            <a:ext cx="3679031" cy="1778556"/>
          </a:xfrm>
          <a:prstGeom prst="roundRect">
            <a:avLst>
              <a:gd name="adj" fmla="val 1674"/>
            </a:avLst>
          </a:prstGeom>
          <a:solidFill>
            <a:srgbClr val="F2EEEE"/>
          </a:solidFill>
          <a:ln/>
        </p:spPr>
      </p:sp>
      <p:sp>
        <p:nvSpPr>
          <p:cNvPr id="6" name="Text 3"/>
          <p:cNvSpPr/>
          <p:nvPr/>
        </p:nvSpPr>
        <p:spPr>
          <a:xfrm>
            <a:off x="992148" y="442733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CRISP-DM</a:t>
            </a:r>
            <a:endParaRPr lang="en-US" sz="1950" dirty="0"/>
          </a:p>
        </p:txBody>
      </p:sp>
      <p:sp>
        <p:nvSpPr>
          <p:cNvPr id="7" name="Text 4"/>
          <p:cNvSpPr/>
          <p:nvPr/>
        </p:nvSpPr>
        <p:spPr>
          <a:xfrm>
            <a:off x="992148" y="4856559"/>
            <a:ext cx="3282315"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Business-driven approach with comprehensive deployment planning</a:t>
            </a:r>
            <a:endParaRPr lang="en-US" sz="1550" dirty="0"/>
          </a:p>
        </p:txBody>
      </p:sp>
      <p:sp>
        <p:nvSpPr>
          <p:cNvPr id="8" name="Shape 5"/>
          <p:cNvSpPr/>
          <p:nvPr/>
        </p:nvSpPr>
        <p:spPr>
          <a:xfrm>
            <a:off x="4671179" y="4228981"/>
            <a:ext cx="3679031" cy="1778556"/>
          </a:xfrm>
          <a:prstGeom prst="roundRect">
            <a:avLst>
              <a:gd name="adj" fmla="val 1674"/>
            </a:avLst>
          </a:prstGeom>
          <a:solidFill>
            <a:srgbClr val="F2EEEE"/>
          </a:solidFill>
          <a:ln/>
        </p:spPr>
      </p:sp>
      <p:sp>
        <p:nvSpPr>
          <p:cNvPr id="9" name="Text 6"/>
          <p:cNvSpPr/>
          <p:nvPr/>
        </p:nvSpPr>
        <p:spPr>
          <a:xfrm>
            <a:off x="4869537" y="442733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SEMMA</a:t>
            </a:r>
            <a:endParaRPr lang="en-US" sz="1950" dirty="0"/>
          </a:p>
        </p:txBody>
      </p:sp>
      <p:sp>
        <p:nvSpPr>
          <p:cNvPr id="10" name="Text 7"/>
          <p:cNvSpPr/>
          <p:nvPr/>
        </p:nvSpPr>
        <p:spPr>
          <a:xfrm>
            <a:off x="4869537" y="4856559"/>
            <a:ext cx="3282315"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Rapid prototyping focused on technical experimentation</a:t>
            </a:r>
            <a:endParaRPr lang="en-US" sz="1550" dirty="0"/>
          </a:p>
        </p:txBody>
      </p:sp>
      <p:sp>
        <p:nvSpPr>
          <p:cNvPr id="11" name="Shape 8"/>
          <p:cNvSpPr/>
          <p:nvPr/>
        </p:nvSpPr>
        <p:spPr>
          <a:xfrm>
            <a:off x="793790" y="6205895"/>
            <a:ext cx="7556421" cy="1143476"/>
          </a:xfrm>
          <a:prstGeom prst="roundRect">
            <a:avLst>
              <a:gd name="adj" fmla="val 2604"/>
            </a:avLst>
          </a:prstGeom>
          <a:solidFill>
            <a:srgbClr val="F2EEEE"/>
          </a:solidFill>
          <a:ln/>
        </p:spPr>
      </p:sp>
      <p:sp>
        <p:nvSpPr>
          <p:cNvPr id="12" name="Text 9"/>
          <p:cNvSpPr/>
          <p:nvPr/>
        </p:nvSpPr>
        <p:spPr>
          <a:xfrm>
            <a:off x="992148" y="640425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KDD</a:t>
            </a:r>
            <a:endParaRPr lang="en-US" sz="1950" dirty="0"/>
          </a:p>
        </p:txBody>
      </p:sp>
      <p:sp>
        <p:nvSpPr>
          <p:cNvPr id="13" name="Text 10"/>
          <p:cNvSpPr/>
          <p:nvPr/>
        </p:nvSpPr>
        <p:spPr>
          <a:xfrm>
            <a:off x="992148" y="6833473"/>
            <a:ext cx="7159704"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Knowledge discovery through unsupervised learning</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392674"/>
            <a:ext cx="5898118"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Performance at a Glance</a:t>
            </a:r>
            <a:endParaRPr lang="en-US" sz="3900" dirty="0"/>
          </a:p>
        </p:txBody>
      </p:sp>
      <p:sp>
        <p:nvSpPr>
          <p:cNvPr id="3" name="Text 1"/>
          <p:cNvSpPr/>
          <p:nvPr/>
        </p:nvSpPr>
        <p:spPr>
          <a:xfrm>
            <a:off x="793790" y="2409587"/>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Each methodology achieved dramatically different results when applied to the same fraud detection challenge. The choice between supervised and unsupervised approaches, along with methodology-specific workflows, created a performance spectrum from 29% to 96% precision.</a:t>
            </a:r>
            <a:endParaRPr lang="en-US" sz="1550" dirty="0"/>
          </a:p>
        </p:txBody>
      </p:sp>
      <p:sp>
        <p:nvSpPr>
          <p:cNvPr id="4" name="Shape 2"/>
          <p:cNvSpPr/>
          <p:nvPr/>
        </p:nvSpPr>
        <p:spPr>
          <a:xfrm>
            <a:off x="793790" y="3585448"/>
            <a:ext cx="13042821" cy="3251478"/>
          </a:xfrm>
          <a:prstGeom prst="roundRect">
            <a:avLst>
              <a:gd name="adj" fmla="val 916"/>
            </a:avLst>
          </a:prstGeom>
          <a:noFill/>
          <a:ln w="7620">
            <a:solidFill>
              <a:srgbClr val="000000">
                <a:alpha val="8000"/>
              </a:srgbClr>
            </a:solidFill>
            <a:prstDash val="solid"/>
          </a:ln>
        </p:spPr>
      </p:sp>
      <p:sp>
        <p:nvSpPr>
          <p:cNvPr id="5" name="Shape 3"/>
          <p:cNvSpPr/>
          <p:nvPr/>
        </p:nvSpPr>
        <p:spPr>
          <a:xfrm>
            <a:off x="801410" y="3593068"/>
            <a:ext cx="13027581" cy="570905"/>
          </a:xfrm>
          <a:prstGeom prst="rect">
            <a:avLst/>
          </a:prstGeom>
          <a:solidFill>
            <a:srgbClr val="FFFFFF">
              <a:alpha val="4000"/>
            </a:srgbClr>
          </a:solidFill>
          <a:ln/>
        </p:spPr>
      </p:sp>
      <p:sp>
        <p:nvSpPr>
          <p:cNvPr id="6" name="Text 4"/>
          <p:cNvSpPr/>
          <p:nvPr/>
        </p:nvSpPr>
        <p:spPr>
          <a:xfrm>
            <a:off x="1000006" y="3719751"/>
            <a:ext cx="2638782" cy="317540"/>
          </a:xfrm>
          <a:prstGeom prst="rect">
            <a:avLst/>
          </a:prstGeom>
          <a:noFill/>
          <a:ln/>
        </p:spPr>
        <p:txBody>
          <a:bodyPr wrap="none" lIns="0" tIns="0" rIns="0" bIns="0" rtlCol="0" anchor="t"/>
          <a:lstStyle/>
          <a:p>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Methodology</a:t>
            </a:r>
            <a:endParaRPr lang="en-US" sz="1550" dirty="0"/>
          </a:p>
        </p:txBody>
      </p:sp>
      <p:sp>
        <p:nvSpPr>
          <p:cNvPr id="7" name="Text 5"/>
          <p:cNvSpPr/>
          <p:nvPr/>
        </p:nvSpPr>
        <p:spPr>
          <a:xfrm>
            <a:off x="4043124" y="3719751"/>
            <a:ext cx="2634972" cy="317540"/>
          </a:xfrm>
          <a:prstGeom prst="rect">
            <a:avLst/>
          </a:prstGeom>
          <a:noFill/>
          <a:ln/>
        </p:spPr>
        <p:txBody>
          <a:bodyPr wrap="none" lIns="0" tIns="0" rIns="0" bIns="0" rtlCol="0" anchor="t"/>
          <a:lstStyle/>
          <a:p>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Approach</a:t>
            </a:r>
            <a:endParaRPr lang="en-US" sz="1550" dirty="0"/>
          </a:p>
        </p:txBody>
      </p:sp>
      <p:sp>
        <p:nvSpPr>
          <p:cNvPr id="8" name="Text 6"/>
          <p:cNvSpPr/>
          <p:nvPr/>
        </p:nvSpPr>
        <p:spPr>
          <a:xfrm>
            <a:off x="7082433" y="3719751"/>
            <a:ext cx="1332190" cy="317540"/>
          </a:xfrm>
          <a:prstGeom prst="rect">
            <a:avLst/>
          </a:prstGeom>
          <a:noFill/>
          <a:ln/>
        </p:spPr>
        <p:txBody>
          <a:bodyPr wrap="none" lIns="0" tIns="0" rIns="0" bIns="0" rtlCol="0" anchor="t"/>
          <a:lstStyle/>
          <a:p>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Precision</a:t>
            </a:r>
            <a:endParaRPr lang="en-US" sz="1550" dirty="0"/>
          </a:p>
        </p:txBody>
      </p:sp>
      <p:sp>
        <p:nvSpPr>
          <p:cNvPr id="9" name="Text 7"/>
          <p:cNvSpPr/>
          <p:nvPr/>
        </p:nvSpPr>
        <p:spPr>
          <a:xfrm>
            <a:off x="8818959" y="3719751"/>
            <a:ext cx="1332190" cy="317540"/>
          </a:xfrm>
          <a:prstGeom prst="rect">
            <a:avLst/>
          </a:prstGeom>
          <a:noFill/>
          <a:ln/>
        </p:spPr>
        <p:txBody>
          <a:bodyPr wrap="none" lIns="0" tIns="0" rIns="0" bIns="0" rtlCol="0" anchor="t"/>
          <a:lstStyle/>
          <a:p>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Recall</a:t>
            </a:r>
            <a:endParaRPr lang="en-US" sz="1550" dirty="0"/>
          </a:p>
        </p:txBody>
      </p:sp>
      <p:sp>
        <p:nvSpPr>
          <p:cNvPr id="10" name="Text 8"/>
          <p:cNvSpPr/>
          <p:nvPr/>
        </p:nvSpPr>
        <p:spPr>
          <a:xfrm>
            <a:off x="10555486" y="3719751"/>
            <a:ext cx="1333500" cy="317540"/>
          </a:xfrm>
          <a:prstGeom prst="rect">
            <a:avLst/>
          </a:prstGeom>
          <a:noFill/>
          <a:ln/>
        </p:spPr>
        <p:txBody>
          <a:bodyPr wrap="none" lIns="0" tIns="0" rIns="0" bIns="0" rtlCol="0" anchor="t"/>
          <a:lstStyle/>
          <a:p>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F1 Score</a:t>
            </a:r>
            <a:endParaRPr lang="en-US" sz="1550" dirty="0"/>
          </a:p>
        </p:txBody>
      </p:sp>
      <p:sp>
        <p:nvSpPr>
          <p:cNvPr id="11" name="Text 9"/>
          <p:cNvSpPr/>
          <p:nvPr/>
        </p:nvSpPr>
        <p:spPr>
          <a:xfrm>
            <a:off x="12293322" y="3719751"/>
            <a:ext cx="1337310" cy="317540"/>
          </a:xfrm>
          <a:prstGeom prst="rect">
            <a:avLst/>
          </a:prstGeom>
          <a:noFill/>
          <a:ln/>
        </p:spPr>
        <p:txBody>
          <a:bodyPr wrap="none" lIns="0" tIns="0" rIns="0" bIns="0" rtlCol="0" anchor="t"/>
          <a:lstStyle/>
          <a:p>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ROC AUC</a:t>
            </a:r>
            <a:endParaRPr lang="en-US" sz="1550" dirty="0"/>
          </a:p>
        </p:txBody>
      </p:sp>
      <p:sp>
        <p:nvSpPr>
          <p:cNvPr id="12" name="Shape 10"/>
          <p:cNvSpPr/>
          <p:nvPr/>
        </p:nvSpPr>
        <p:spPr>
          <a:xfrm>
            <a:off x="801410" y="4163973"/>
            <a:ext cx="13027581" cy="888444"/>
          </a:xfrm>
          <a:prstGeom prst="rect">
            <a:avLst/>
          </a:prstGeom>
          <a:solidFill>
            <a:srgbClr val="000000">
              <a:alpha val="4000"/>
            </a:srgbClr>
          </a:solidFill>
          <a:ln/>
        </p:spPr>
      </p:sp>
      <p:sp>
        <p:nvSpPr>
          <p:cNvPr id="13" name="Text 11"/>
          <p:cNvSpPr/>
          <p:nvPr/>
        </p:nvSpPr>
        <p:spPr>
          <a:xfrm>
            <a:off x="1000006" y="4290655"/>
            <a:ext cx="2638782"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CRISP-DM</a:t>
            </a:r>
            <a:endParaRPr lang="en-US" sz="1550" dirty="0"/>
          </a:p>
        </p:txBody>
      </p:sp>
      <p:sp>
        <p:nvSpPr>
          <p:cNvPr id="14" name="Text 12"/>
          <p:cNvSpPr/>
          <p:nvPr/>
        </p:nvSpPr>
        <p:spPr>
          <a:xfrm>
            <a:off x="4043124" y="4290655"/>
            <a:ext cx="2634972"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Supervised (Random Forest)</a:t>
            </a:r>
            <a:endParaRPr lang="en-US" sz="1550" dirty="0"/>
          </a:p>
        </p:txBody>
      </p:sp>
      <p:sp>
        <p:nvSpPr>
          <p:cNvPr id="15" name="Text 13"/>
          <p:cNvSpPr/>
          <p:nvPr/>
        </p:nvSpPr>
        <p:spPr>
          <a:xfrm>
            <a:off x="7082433" y="4290655"/>
            <a:ext cx="1332190" cy="317540"/>
          </a:xfrm>
          <a:prstGeom prst="rect">
            <a:avLst/>
          </a:prstGeom>
          <a:noFill/>
          <a:ln/>
        </p:spPr>
        <p:txBody>
          <a:bodyPr wrap="none" lIns="0" tIns="0" rIns="0" bIns="0" rtlCol="0" anchor="t"/>
          <a:lstStyle/>
          <a:p>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96.52%</a:t>
            </a:r>
            <a:endParaRPr lang="en-US" sz="1550" dirty="0"/>
          </a:p>
        </p:txBody>
      </p:sp>
      <p:sp>
        <p:nvSpPr>
          <p:cNvPr id="16" name="Text 14"/>
          <p:cNvSpPr/>
          <p:nvPr/>
        </p:nvSpPr>
        <p:spPr>
          <a:xfrm>
            <a:off x="8818959" y="4290655"/>
            <a:ext cx="133219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75.00%</a:t>
            </a:r>
            <a:endParaRPr lang="en-US" sz="1550" dirty="0"/>
          </a:p>
        </p:txBody>
      </p:sp>
      <p:sp>
        <p:nvSpPr>
          <p:cNvPr id="17" name="Text 15"/>
          <p:cNvSpPr/>
          <p:nvPr/>
        </p:nvSpPr>
        <p:spPr>
          <a:xfrm>
            <a:off x="10555486" y="4290655"/>
            <a:ext cx="133350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84.41%</a:t>
            </a:r>
            <a:endParaRPr lang="en-US" sz="1550" dirty="0"/>
          </a:p>
        </p:txBody>
      </p:sp>
      <p:sp>
        <p:nvSpPr>
          <p:cNvPr id="18" name="Text 16"/>
          <p:cNvSpPr/>
          <p:nvPr/>
        </p:nvSpPr>
        <p:spPr>
          <a:xfrm>
            <a:off x="12293322" y="4290655"/>
            <a:ext cx="133731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92.46%</a:t>
            </a:r>
            <a:endParaRPr lang="en-US" sz="1550" dirty="0"/>
          </a:p>
        </p:txBody>
      </p:sp>
      <p:sp>
        <p:nvSpPr>
          <p:cNvPr id="19" name="Shape 17"/>
          <p:cNvSpPr/>
          <p:nvPr/>
        </p:nvSpPr>
        <p:spPr>
          <a:xfrm>
            <a:off x="801410" y="5052417"/>
            <a:ext cx="13027581" cy="888444"/>
          </a:xfrm>
          <a:prstGeom prst="rect">
            <a:avLst/>
          </a:prstGeom>
          <a:solidFill>
            <a:srgbClr val="FFFFFF">
              <a:alpha val="4000"/>
            </a:srgbClr>
          </a:solidFill>
          <a:ln/>
        </p:spPr>
      </p:sp>
      <p:sp>
        <p:nvSpPr>
          <p:cNvPr id="20" name="Text 18"/>
          <p:cNvSpPr/>
          <p:nvPr/>
        </p:nvSpPr>
        <p:spPr>
          <a:xfrm>
            <a:off x="1000006" y="5179100"/>
            <a:ext cx="2638782"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SEMMA</a:t>
            </a:r>
            <a:endParaRPr lang="en-US" sz="1550" dirty="0"/>
          </a:p>
        </p:txBody>
      </p:sp>
      <p:sp>
        <p:nvSpPr>
          <p:cNvPr id="21" name="Text 19"/>
          <p:cNvSpPr/>
          <p:nvPr/>
        </p:nvSpPr>
        <p:spPr>
          <a:xfrm>
            <a:off x="4043124" y="5179100"/>
            <a:ext cx="2634972"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Supervised (Random Forest)</a:t>
            </a:r>
            <a:endParaRPr lang="en-US" sz="1550" dirty="0"/>
          </a:p>
        </p:txBody>
      </p:sp>
      <p:sp>
        <p:nvSpPr>
          <p:cNvPr id="22" name="Text 20"/>
          <p:cNvSpPr/>
          <p:nvPr/>
        </p:nvSpPr>
        <p:spPr>
          <a:xfrm>
            <a:off x="7082433" y="5179100"/>
            <a:ext cx="133219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93.85%</a:t>
            </a:r>
            <a:endParaRPr lang="en-US" sz="1550" dirty="0"/>
          </a:p>
        </p:txBody>
      </p:sp>
      <p:sp>
        <p:nvSpPr>
          <p:cNvPr id="23" name="Text 21"/>
          <p:cNvSpPr/>
          <p:nvPr/>
        </p:nvSpPr>
        <p:spPr>
          <a:xfrm>
            <a:off x="8818959" y="5179100"/>
            <a:ext cx="1332190" cy="317540"/>
          </a:xfrm>
          <a:prstGeom prst="rect">
            <a:avLst/>
          </a:prstGeom>
          <a:noFill/>
          <a:ln/>
        </p:spPr>
        <p:txBody>
          <a:bodyPr wrap="none" lIns="0" tIns="0" rIns="0" bIns="0" rtlCol="0" anchor="t"/>
          <a:lstStyle/>
          <a:p>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82.43%</a:t>
            </a:r>
            <a:endParaRPr lang="en-US" sz="1550" dirty="0"/>
          </a:p>
        </p:txBody>
      </p:sp>
      <p:sp>
        <p:nvSpPr>
          <p:cNvPr id="24" name="Text 22"/>
          <p:cNvSpPr/>
          <p:nvPr/>
        </p:nvSpPr>
        <p:spPr>
          <a:xfrm>
            <a:off x="10555486" y="5179100"/>
            <a:ext cx="1333500" cy="317540"/>
          </a:xfrm>
          <a:prstGeom prst="rect">
            <a:avLst/>
          </a:prstGeom>
          <a:noFill/>
          <a:ln/>
        </p:spPr>
        <p:txBody>
          <a:bodyPr wrap="none" lIns="0" tIns="0" rIns="0" bIns="0" rtlCol="0" anchor="t"/>
          <a:lstStyle/>
          <a:p>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87.77%</a:t>
            </a:r>
            <a:endParaRPr lang="en-US" sz="1550" dirty="0"/>
          </a:p>
        </p:txBody>
      </p:sp>
      <p:sp>
        <p:nvSpPr>
          <p:cNvPr id="25" name="Text 23"/>
          <p:cNvSpPr/>
          <p:nvPr/>
        </p:nvSpPr>
        <p:spPr>
          <a:xfrm>
            <a:off x="12293322" y="5179100"/>
            <a:ext cx="1337310" cy="317540"/>
          </a:xfrm>
          <a:prstGeom prst="rect">
            <a:avLst/>
          </a:prstGeom>
          <a:noFill/>
          <a:ln/>
        </p:spPr>
        <p:txBody>
          <a:bodyPr wrap="none" lIns="0" tIns="0" rIns="0" bIns="0" rtlCol="0" anchor="t"/>
          <a:lstStyle/>
          <a:p>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97.79%</a:t>
            </a:r>
            <a:endParaRPr lang="en-US" sz="1550" dirty="0"/>
          </a:p>
        </p:txBody>
      </p:sp>
      <p:sp>
        <p:nvSpPr>
          <p:cNvPr id="26" name="Shape 24"/>
          <p:cNvSpPr/>
          <p:nvPr/>
        </p:nvSpPr>
        <p:spPr>
          <a:xfrm>
            <a:off x="801410" y="5940862"/>
            <a:ext cx="13027581" cy="888444"/>
          </a:xfrm>
          <a:prstGeom prst="rect">
            <a:avLst/>
          </a:prstGeom>
          <a:solidFill>
            <a:srgbClr val="000000">
              <a:alpha val="4000"/>
            </a:srgbClr>
          </a:solidFill>
          <a:ln/>
        </p:spPr>
      </p:sp>
      <p:sp>
        <p:nvSpPr>
          <p:cNvPr id="27" name="Text 25"/>
          <p:cNvSpPr/>
          <p:nvPr/>
        </p:nvSpPr>
        <p:spPr>
          <a:xfrm>
            <a:off x="1000006" y="6067544"/>
            <a:ext cx="2638782"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KDD</a:t>
            </a:r>
            <a:endParaRPr lang="en-US" sz="1550" dirty="0"/>
          </a:p>
        </p:txBody>
      </p:sp>
      <p:sp>
        <p:nvSpPr>
          <p:cNvPr id="28" name="Text 26"/>
          <p:cNvSpPr/>
          <p:nvPr/>
        </p:nvSpPr>
        <p:spPr>
          <a:xfrm>
            <a:off x="4043124" y="6067544"/>
            <a:ext cx="2634972"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Unsupervised (Isolation Forest)</a:t>
            </a:r>
            <a:endParaRPr lang="en-US" sz="1550" dirty="0"/>
          </a:p>
        </p:txBody>
      </p:sp>
      <p:sp>
        <p:nvSpPr>
          <p:cNvPr id="29" name="Text 27"/>
          <p:cNvSpPr/>
          <p:nvPr/>
        </p:nvSpPr>
        <p:spPr>
          <a:xfrm>
            <a:off x="7082433" y="6067544"/>
            <a:ext cx="133219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29.12%</a:t>
            </a:r>
            <a:endParaRPr lang="en-US" sz="1550" dirty="0"/>
          </a:p>
        </p:txBody>
      </p:sp>
      <p:sp>
        <p:nvSpPr>
          <p:cNvPr id="30" name="Text 28"/>
          <p:cNvSpPr/>
          <p:nvPr/>
        </p:nvSpPr>
        <p:spPr>
          <a:xfrm>
            <a:off x="8818959" y="6067544"/>
            <a:ext cx="133219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16.87%</a:t>
            </a:r>
            <a:endParaRPr lang="en-US" sz="1550" dirty="0"/>
          </a:p>
        </p:txBody>
      </p:sp>
      <p:sp>
        <p:nvSpPr>
          <p:cNvPr id="31" name="Text 29"/>
          <p:cNvSpPr/>
          <p:nvPr/>
        </p:nvSpPr>
        <p:spPr>
          <a:xfrm>
            <a:off x="10555486" y="6067544"/>
            <a:ext cx="133350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21.36%</a:t>
            </a:r>
            <a:endParaRPr lang="en-US" sz="1550" dirty="0"/>
          </a:p>
        </p:txBody>
      </p:sp>
      <p:sp>
        <p:nvSpPr>
          <p:cNvPr id="32" name="Text 30"/>
          <p:cNvSpPr/>
          <p:nvPr/>
        </p:nvSpPr>
        <p:spPr>
          <a:xfrm>
            <a:off x="12293322" y="6067544"/>
            <a:ext cx="133731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N/A</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0791"/>
          </a:xfrm>
          <a:prstGeom prst="rect">
            <a:avLst/>
          </a:prstGeom>
        </p:spPr>
      </p:pic>
      <p:sp>
        <p:nvSpPr>
          <p:cNvPr id="3" name="Text 0"/>
          <p:cNvSpPr/>
          <p:nvPr/>
        </p:nvSpPr>
        <p:spPr>
          <a:xfrm>
            <a:off x="6271498" y="539710"/>
            <a:ext cx="7573804" cy="1226820"/>
          </a:xfrm>
          <a:prstGeom prst="rect">
            <a:avLst/>
          </a:prstGeom>
          <a:noFill/>
          <a:ln/>
        </p:spPr>
        <p:txBody>
          <a:bodyPr wrap="square" lIns="0" tIns="0" rIns="0" bIns="0" rtlCol="0" anchor="t"/>
          <a:lstStyle/>
          <a:p>
            <a:pPr algn="l" indent="0" marL="0">
              <a:lnSpc>
                <a:spcPts val="4800"/>
              </a:lnSpc>
              <a:buNone/>
            </a:pPr>
            <a:r>
              <a:rPr lang="en-US" sz="3850" dirty="0">
                <a:solidFill>
                  <a:srgbClr val="030303"/>
                </a:solidFill>
                <a:latin typeface="DM Sans Semi Bold" pitchFamily="34" charset="0"/>
                <a:ea typeface="DM Sans Semi Bold" pitchFamily="34" charset="-122"/>
                <a:cs typeface="DM Sans Semi Bold" pitchFamily="34" charset="-120"/>
              </a:rPr>
              <a:t>CRISP-DM: Business-Driven Excellence</a:t>
            </a:r>
            <a:endParaRPr lang="en-US" sz="3850" dirty="0"/>
          </a:p>
        </p:txBody>
      </p:sp>
      <p:sp>
        <p:nvSpPr>
          <p:cNvPr id="4" name="Text 1"/>
          <p:cNvSpPr/>
          <p:nvPr/>
        </p:nvSpPr>
        <p:spPr>
          <a:xfrm>
            <a:off x="6271498" y="2237423"/>
            <a:ext cx="4352687" cy="2512695"/>
          </a:xfrm>
          <a:prstGeom prst="rect">
            <a:avLst/>
          </a:prstGeom>
          <a:noFill/>
          <a:ln/>
        </p:spPr>
        <p:txBody>
          <a:bodyPr wrap="square" lIns="0" tIns="0" rIns="0" bIns="0" rtlCol="0" anchor="t"/>
          <a:lstStyle/>
          <a:p>
            <a:pPr algn="l" indent="0" marL="0">
              <a:lnSpc>
                <a:spcPts val="2450"/>
              </a:lnSpc>
              <a:buNone/>
            </a:pPr>
            <a:r>
              <a:rPr lang="en-US" sz="1500" dirty="0">
                <a:solidFill>
                  <a:srgbClr val="464646"/>
                </a:solidFill>
                <a:latin typeface="Inter Medium" pitchFamily="34" charset="0"/>
                <a:ea typeface="Inter Medium" pitchFamily="34" charset="-122"/>
                <a:cs typeface="Inter Medium" pitchFamily="34" charset="-120"/>
              </a:rPr>
              <a:t>The CRISP-DM (Cross-Industry Standard Process for Data Mining) framework follows six phases from business understanding through deployment. Applied to fraud detection, this methodology achieved </a:t>
            </a:r>
            <a:pPr algn="l" indent="0" marL="0">
              <a:lnSpc>
                <a:spcPts val="2450"/>
              </a:lnSpc>
              <a:buNone/>
            </a:pPr>
            <a:r>
              <a:rPr lang="en-US" sz="1500" b="1" dirty="0">
                <a:solidFill>
                  <a:srgbClr val="464646"/>
                </a:solidFill>
                <a:latin typeface="Inter Medium" pitchFamily="34" charset="0"/>
                <a:ea typeface="Inter Medium" pitchFamily="34" charset="-122"/>
                <a:cs typeface="Inter Medium" pitchFamily="34" charset="-120"/>
              </a:rPr>
              <a:t>96.52% precision</a:t>
            </a:r>
            <a:pPr algn="l" indent="0" marL="0">
              <a:lnSpc>
                <a:spcPts val="2450"/>
              </a:lnSpc>
              <a:buNone/>
            </a:pPr>
            <a:r>
              <a:rPr lang="en-US" sz="1500" dirty="0">
                <a:solidFill>
                  <a:srgbClr val="464646"/>
                </a:solidFill>
                <a:latin typeface="Inter Medium" pitchFamily="34" charset="0"/>
                <a:ea typeface="Inter Medium" pitchFamily="34" charset="-122"/>
                <a:cs typeface="Inter Medium" pitchFamily="34" charset="-120"/>
              </a:rPr>
              <a:t> with a Random Forest model—meaning when it flags a transaction as fraud, it's correct 96.5% of the time.</a:t>
            </a:r>
            <a:endParaRPr lang="en-US" sz="1500" dirty="0"/>
          </a:p>
        </p:txBody>
      </p:sp>
      <p:sp>
        <p:nvSpPr>
          <p:cNvPr id="5" name="Text 2"/>
          <p:cNvSpPr/>
          <p:nvPr/>
        </p:nvSpPr>
        <p:spPr>
          <a:xfrm>
            <a:off x="6271498" y="4926687"/>
            <a:ext cx="4352687" cy="1884521"/>
          </a:xfrm>
          <a:prstGeom prst="rect">
            <a:avLst/>
          </a:prstGeom>
          <a:noFill/>
          <a:ln/>
        </p:spPr>
        <p:txBody>
          <a:bodyPr wrap="square" lIns="0" tIns="0" rIns="0" bIns="0" rtlCol="0" anchor="t"/>
          <a:lstStyle/>
          <a:p>
            <a:pPr algn="l" indent="0" marL="0">
              <a:lnSpc>
                <a:spcPts val="2450"/>
              </a:lnSpc>
              <a:buNone/>
            </a:pPr>
            <a:r>
              <a:rPr lang="en-US" sz="1500" dirty="0">
                <a:solidFill>
                  <a:srgbClr val="464646"/>
                </a:solidFill>
                <a:latin typeface="Inter Medium" pitchFamily="34" charset="0"/>
                <a:ea typeface="Inter Medium" pitchFamily="34" charset="-122"/>
                <a:cs typeface="Inter Medium" pitchFamily="34" charset="-120"/>
              </a:rPr>
              <a:t>The approach began with clear business objectives: flag fraudulent transactions before losses accrue while minimizing false positives that frustrate legitimate customers. The extreme 579:1 class imbalance shaped every modeling decision.</a:t>
            </a:r>
            <a:endParaRPr lang="en-US" sz="1500" dirty="0"/>
          </a:p>
        </p:txBody>
      </p:sp>
      <p:sp>
        <p:nvSpPr>
          <p:cNvPr id="6" name="Text 3"/>
          <p:cNvSpPr/>
          <p:nvPr/>
        </p:nvSpPr>
        <p:spPr>
          <a:xfrm>
            <a:off x="11110674" y="2379702"/>
            <a:ext cx="2742128" cy="647700"/>
          </a:xfrm>
          <a:prstGeom prst="rect">
            <a:avLst/>
          </a:prstGeom>
          <a:noFill/>
          <a:ln/>
        </p:spPr>
        <p:txBody>
          <a:bodyPr wrap="none" lIns="0" tIns="0" rIns="0" bIns="0" rtlCol="0" anchor="t"/>
          <a:lstStyle/>
          <a:p>
            <a:pPr algn="ctr" indent="0" marL="0">
              <a:lnSpc>
                <a:spcPts val="5100"/>
              </a:lnSpc>
              <a:buNone/>
            </a:pPr>
            <a:r>
              <a:rPr lang="en-US" sz="5100" dirty="0">
                <a:solidFill>
                  <a:srgbClr val="464646"/>
                </a:solidFill>
                <a:latin typeface="DM Sans Semi Bold" pitchFamily="34" charset="0"/>
                <a:ea typeface="DM Sans Semi Bold" pitchFamily="34" charset="-122"/>
                <a:cs typeface="DM Sans Semi Bold" pitchFamily="34" charset="-120"/>
              </a:rPr>
              <a:t>284,807</a:t>
            </a:r>
            <a:endParaRPr lang="en-US" sz="5100" dirty="0"/>
          </a:p>
        </p:txBody>
      </p:sp>
      <p:sp>
        <p:nvSpPr>
          <p:cNvPr id="7" name="Text 4"/>
          <p:cNvSpPr/>
          <p:nvPr/>
        </p:nvSpPr>
        <p:spPr>
          <a:xfrm>
            <a:off x="11254859" y="3272671"/>
            <a:ext cx="2453640" cy="306705"/>
          </a:xfrm>
          <a:prstGeom prst="rect">
            <a:avLst/>
          </a:prstGeom>
          <a:noFill/>
          <a:ln/>
        </p:spPr>
        <p:txBody>
          <a:bodyPr wrap="none" lIns="0" tIns="0" rIns="0" bIns="0" rtlCol="0" anchor="t"/>
          <a:lstStyle/>
          <a:p>
            <a:pPr algn="ctr" indent="0" marL="0">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Total Transactions</a:t>
            </a:r>
            <a:endParaRPr lang="en-US" sz="1900" dirty="0"/>
          </a:p>
        </p:txBody>
      </p:sp>
      <p:sp>
        <p:nvSpPr>
          <p:cNvPr id="8" name="Text 5"/>
          <p:cNvSpPr/>
          <p:nvPr/>
        </p:nvSpPr>
        <p:spPr>
          <a:xfrm>
            <a:off x="11110674" y="4070033"/>
            <a:ext cx="2742128" cy="647700"/>
          </a:xfrm>
          <a:prstGeom prst="rect">
            <a:avLst/>
          </a:prstGeom>
          <a:noFill/>
          <a:ln/>
        </p:spPr>
        <p:txBody>
          <a:bodyPr wrap="none" lIns="0" tIns="0" rIns="0" bIns="0" rtlCol="0" anchor="t"/>
          <a:lstStyle/>
          <a:p>
            <a:pPr algn="ctr" indent="0" marL="0">
              <a:lnSpc>
                <a:spcPts val="5100"/>
              </a:lnSpc>
              <a:buNone/>
            </a:pPr>
            <a:r>
              <a:rPr lang="en-US" sz="5100" dirty="0">
                <a:solidFill>
                  <a:srgbClr val="464646"/>
                </a:solidFill>
                <a:latin typeface="DM Sans Semi Bold" pitchFamily="34" charset="0"/>
                <a:ea typeface="DM Sans Semi Bold" pitchFamily="34" charset="-122"/>
                <a:cs typeface="DM Sans Semi Bold" pitchFamily="34" charset="-120"/>
              </a:rPr>
              <a:t>492</a:t>
            </a:r>
            <a:endParaRPr lang="en-US" sz="5100" dirty="0"/>
          </a:p>
        </p:txBody>
      </p:sp>
      <p:sp>
        <p:nvSpPr>
          <p:cNvPr id="9" name="Text 6"/>
          <p:cNvSpPr/>
          <p:nvPr/>
        </p:nvSpPr>
        <p:spPr>
          <a:xfrm>
            <a:off x="11254859" y="4963001"/>
            <a:ext cx="2453640" cy="306705"/>
          </a:xfrm>
          <a:prstGeom prst="rect">
            <a:avLst/>
          </a:prstGeom>
          <a:noFill/>
          <a:ln/>
        </p:spPr>
        <p:txBody>
          <a:bodyPr wrap="none" lIns="0" tIns="0" rIns="0" bIns="0" rtlCol="0" anchor="t"/>
          <a:lstStyle/>
          <a:p>
            <a:pPr algn="ctr" indent="0" marL="0">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Fraud Cases</a:t>
            </a:r>
            <a:endParaRPr lang="en-US" sz="1900" dirty="0"/>
          </a:p>
        </p:txBody>
      </p:sp>
      <p:sp>
        <p:nvSpPr>
          <p:cNvPr id="10" name="Text 7"/>
          <p:cNvSpPr/>
          <p:nvPr/>
        </p:nvSpPr>
        <p:spPr>
          <a:xfrm>
            <a:off x="11110674" y="5465921"/>
            <a:ext cx="2742128" cy="314087"/>
          </a:xfrm>
          <a:prstGeom prst="rect">
            <a:avLst/>
          </a:prstGeom>
          <a:noFill/>
          <a:ln/>
        </p:spPr>
        <p:txBody>
          <a:bodyPr wrap="none" lIns="0" tIns="0" rIns="0" bIns="0" rtlCol="0" anchor="t"/>
          <a:lstStyle/>
          <a:p>
            <a:pPr algn="ctr" indent="0" marL="0">
              <a:lnSpc>
                <a:spcPts val="2450"/>
              </a:lnSpc>
              <a:buNone/>
            </a:pPr>
            <a:r>
              <a:rPr lang="en-US" sz="1500" dirty="0">
                <a:solidFill>
                  <a:srgbClr val="464646"/>
                </a:solidFill>
                <a:latin typeface="Inter Medium" pitchFamily="34" charset="0"/>
                <a:ea typeface="Inter Medium" pitchFamily="34" charset="-122"/>
                <a:cs typeface="Inter Medium" pitchFamily="34" charset="-120"/>
              </a:rPr>
              <a:t>Only 0.17% of dataset</a:t>
            </a:r>
            <a:endParaRPr lang="en-US" sz="1500" dirty="0"/>
          </a:p>
        </p:txBody>
      </p:sp>
      <p:sp>
        <p:nvSpPr>
          <p:cNvPr id="11" name="Text 8"/>
          <p:cNvSpPr/>
          <p:nvPr/>
        </p:nvSpPr>
        <p:spPr>
          <a:xfrm>
            <a:off x="11110674" y="6270665"/>
            <a:ext cx="2742128" cy="647700"/>
          </a:xfrm>
          <a:prstGeom prst="rect">
            <a:avLst/>
          </a:prstGeom>
          <a:noFill/>
          <a:ln/>
        </p:spPr>
        <p:txBody>
          <a:bodyPr wrap="none" lIns="0" tIns="0" rIns="0" bIns="0" rtlCol="0" anchor="t"/>
          <a:lstStyle/>
          <a:p>
            <a:pPr algn="ctr" indent="0" marL="0">
              <a:lnSpc>
                <a:spcPts val="5100"/>
              </a:lnSpc>
              <a:buNone/>
            </a:pPr>
            <a:r>
              <a:rPr lang="en-US" sz="5100" dirty="0">
                <a:solidFill>
                  <a:srgbClr val="464646"/>
                </a:solidFill>
                <a:latin typeface="DM Sans Semi Bold" pitchFamily="34" charset="0"/>
                <a:ea typeface="DM Sans Semi Bold" pitchFamily="34" charset="-122"/>
                <a:cs typeface="DM Sans Semi Bold" pitchFamily="34" charset="-120"/>
              </a:rPr>
              <a:t>96.5%</a:t>
            </a:r>
            <a:endParaRPr lang="en-US" sz="5100" dirty="0"/>
          </a:p>
        </p:txBody>
      </p:sp>
      <p:sp>
        <p:nvSpPr>
          <p:cNvPr id="12" name="Text 9"/>
          <p:cNvSpPr/>
          <p:nvPr/>
        </p:nvSpPr>
        <p:spPr>
          <a:xfrm>
            <a:off x="11254859" y="7163633"/>
            <a:ext cx="2453640" cy="306705"/>
          </a:xfrm>
          <a:prstGeom prst="rect">
            <a:avLst/>
          </a:prstGeom>
          <a:noFill/>
          <a:ln/>
        </p:spPr>
        <p:txBody>
          <a:bodyPr wrap="none" lIns="0" tIns="0" rIns="0" bIns="0" rtlCol="0" anchor="t"/>
          <a:lstStyle/>
          <a:p>
            <a:pPr algn="ctr" indent="0" marL="0">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Precision Achieved</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99398"/>
            <a:ext cx="882979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CRISP-DM: From Data to Deployment</a:t>
            </a:r>
            <a:endParaRPr lang="en-US" sz="3900" dirty="0"/>
          </a:p>
        </p:txBody>
      </p:sp>
      <p:sp>
        <p:nvSpPr>
          <p:cNvPr id="3" name="Text 1"/>
          <p:cNvSpPr/>
          <p:nvPr/>
        </p:nvSpPr>
        <p:spPr>
          <a:xfrm>
            <a:off x="793790" y="191631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01</a:t>
            </a:r>
            <a:endParaRPr lang="en-US" sz="1550" dirty="0"/>
          </a:p>
        </p:txBody>
      </p:sp>
      <p:sp>
        <p:nvSpPr>
          <p:cNvPr id="4" name="Shape 2"/>
          <p:cNvSpPr/>
          <p:nvPr/>
        </p:nvSpPr>
        <p:spPr>
          <a:xfrm>
            <a:off x="793790" y="2230636"/>
            <a:ext cx="6422231" cy="22860"/>
          </a:xfrm>
          <a:prstGeom prst="rect">
            <a:avLst/>
          </a:prstGeom>
          <a:solidFill>
            <a:srgbClr val="1C9770"/>
          </a:solidFill>
          <a:ln/>
        </p:spPr>
      </p:sp>
      <p:sp>
        <p:nvSpPr>
          <p:cNvPr id="5" name="Text 3"/>
          <p:cNvSpPr/>
          <p:nvPr/>
        </p:nvSpPr>
        <p:spPr>
          <a:xfrm>
            <a:off x="793790" y="2375535"/>
            <a:ext cx="2882860"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Business Understanding</a:t>
            </a:r>
            <a:endParaRPr lang="en-US" sz="1950" dirty="0"/>
          </a:p>
        </p:txBody>
      </p:sp>
      <p:sp>
        <p:nvSpPr>
          <p:cNvPr id="6" name="Text 4"/>
          <p:cNvSpPr/>
          <p:nvPr/>
        </p:nvSpPr>
        <p:spPr>
          <a:xfrm>
            <a:off x="793790" y="280475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Define objectives: minimize fraud losses while avoiding false positives that harm customer experience</a:t>
            </a:r>
            <a:endParaRPr lang="en-US" sz="1550" dirty="0"/>
          </a:p>
        </p:txBody>
      </p:sp>
      <p:sp>
        <p:nvSpPr>
          <p:cNvPr id="7" name="Text 5"/>
          <p:cNvSpPr/>
          <p:nvPr/>
        </p:nvSpPr>
        <p:spPr>
          <a:xfrm>
            <a:off x="7414379" y="191631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02</a:t>
            </a:r>
            <a:endParaRPr lang="en-US" sz="1550" dirty="0"/>
          </a:p>
        </p:txBody>
      </p:sp>
      <p:sp>
        <p:nvSpPr>
          <p:cNvPr id="8" name="Shape 6"/>
          <p:cNvSpPr/>
          <p:nvPr/>
        </p:nvSpPr>
        <p:spPr>
          <a:xfrm>
            <a:off x="7414379" y="2230636"/>
            <a:ext cx="6422231" cy="22860"/>
          </a:xfrm>
          <a:prstGeom prst="rect">
            <a:avLst/>
          </a:prstGeom>
          <a:solidFill>
            <a:srgbClr val="1C9770"/>
          </a:solidFill>
          <a:ln/>
        </p:spPr>
      </p:sp>
      <p:sp>
        <p:nvSpPr>
          <p:cNvPr id="9" name="Text 7"/>
          <p:cNvSpPr/>
          <p:nvPr/>
        </p:nvSpPr>
        <p:spPr>
          <a:xfrm>
            <a:off x="7414379" y="237553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Data Understanding</a:t>
            </a:r>
            <a:endParaRPr lang="en-US" sz="1950" dirty="0"/>
          </a:p>
        </p:txBody>
      </p:sp>
      <p:sp>
        <p:nvSpPr>
          <p:cNvPr id="10" name="Text 8"/>
          <p:cNvSpPr/>
          <p:nvPr/>
        </p:nvSpPr>
        <p:spPr>
          <a:xfrm>
            <a:off x="7414379" y="280475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Explore 284,807 transactions with 30 PCA-transformed features, revealing extreme class imbalance</a:t>
            </a:r>
            <a:endParaRPr lang="en-US" sz="1550" dirty="0"/>
          </a:p>
        </p:txBody>
      </p:sp>
      <p:sp>
        <p:nvSpPr>
          <p:cNvPr id="11" name="Text 9"/>
          <p:cNvSpPr/>
          <p:nvPr/>
        </p:nvSpPr>
        <p:spPr>
          <a:xfrm>
            <a:off x="793790" y="378702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03</a:t>
            </a:r>
            <a:endParaRPr lang="en-US" sz="1550" dirty="0"/>
          </a:p>
        </p:txBody>
      </p:sp>
      <p:sp>
        <p:nvSpPr>
          <p:cNvPr id="12" name="Shape 10"/>
          <p:cNvSpPr/>
          <p:nvPr/>
        </p:nvSpPr>
        <p:spPr>
          <a:xfrm>
            <a:off x="793790" y="4101346"/>
            <a:ext cx="6422231" cy="22860"/>
          </a:xfrm>
          <a:prstGeom prst="rect">
            <a:avLst/>
          </a:prstGeom>
          <a:solidFill>
            <a:srgbClr val="1C9770"/>
          </a:solidFill>
          <a:ln/>
        </p:spPr>
      </p:sp>
      <p:sp>
        <p:nvSpPr>
          <p:cNvPr id="13" name="Text 11"/>
          <p:cNvSpPr/>
          <p:nvPr/>
        </p:nvSpPr>
        <p:spPr>
          <a:xfrm>
            <a:off x="793790" y="42462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Data Preparation</a:t>
            </a:r>
            <a:endParaRPr lang="en-US" sz="1950" dirty="0"/>
          </a:p>
        </p:txBody>
      </p:sp>
      <p:sp>
        <p:nvSpPr>
          <p:cNvPr id="14" name="Text 12"/>
          <p:cNvSpPr/>
          <p:nvPr/>
        </p:nvSpPr>
        <p:spPr>
          <a:xfrm>
            <a:off x="793790" y="467546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Engineer Hour feature from Time variable, standardize all features, stratify 70/30 train/test split</a:t>
            </a:r>
            <a:endParaRPr lang="en-US" sz="1550" dirty="0"/>
          </a:p>
        </p:txBody>
      </p:sp>
      <p:sp>
        <p:nvSpPr>
          <p:cNvPr id="15" name="Text 13"/>
          <p:cNvSpPr/>
          <p:nvPr/>
        </p:nvSpPr>
        <p:spPr>
          <a:xfrm>
            <a:off x="7414379" y="378702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04</a:t>
            </a:r>
            <a:endParaRPr lang="en-US" sz="1550" dirty="0"/>
          </a:p>
        </p:txBody>
      </p:sp>
      <p:sp>
        <p:nvSpPr>
          <p:cNvPr id="16" name="Shape 14"/>
          <p:cNvSpPr/>
          <p:nvPr/>
        </p:nvSpPr>
        <p:spPr>
          <a:xfrm>
            <a:off x="7414379" y="4101346"/>
            <a:ext cx="6422231" cy="22860"/>
          </a:xfrm>
          <a:prstGeom prst="rect">
            <a:avLst/>
          </a:prstGeom>
          <a:solidFill>
            <a:srgbClr val="1C9770"/>
          </a:solidFill>
          <a:ln/>
        </p:spPr>
      </p:sp>
      <p:sp>
        <p:nvSpPr>
          <p:cNvPr id="17" name="Text 15"/>
          <p:cNvSpPr/>
          <p:nvPr/>
        </p:nvSpPr>
        <p:spPr>
          <a:xfrm>
            <a:off x="7414379" y="42462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Modeling</a:t>
            </a:r>
            <a:endParaRPr lang="en-US" sz="1950" dirty="0"/>
          </a:p>
        </p:txBody>
      </p:sp>
      <p:sp>
        <p:nvSpPr>
          <p:cNvPr id="18" name="Text 16"/>
          <p:cNvSpPr/>
          <p:nvPr/>
        </p:nvSpPr>
        <p:spPr>
          <a:xfrm>
            <a:off x="7414379" y="467546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Train Logistic Regression baseline and Random Forest ensemble with 50 trees</a:t>
            </a:r>
            <a:endParaRPr lang="en-US" sz="1550" dirty="0"/>
          </a:p>
        </p:txBody>
      </p:sp>
      <p:sp>
        <p:nvSpPr>
          <p:cNvPr id="19" name="Text 17"/>
          <p:cNvSpPr/>
          <p:nvPr/>
        </p:nvSpPr>
        <p:spPr>
          <a:xfrm>
            <a:off x="793790" y="565773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05</a:t>
            </a:r>
            <a:endParaRPr lang="en-US" sz="1550" dirty="0"/>
          </a:p>
        </p:txBody>
      </p:sp>
      <p:sp>
        <p:nvSpPr>
          <p:cNvPr id="20" name="Shape 18"/>
          <p:cNvSpPr/>
          <p:nvPr/>
        </p:nvSpPr>
        <p:spPr>
          <a:xfrm>
            <a:off x="793790" y="5972056"/>
            <a:ext cx="6422231" cy="22860"/>
          </a:xfrm>
          <a:prstGeom prst="rect">
            <a:avLst/>
          </a:prstGeom>
          <a:solidFill>
            <a:srgbClr val="1C9770"/>
          </a:solidFill>
          <a:ln/>
        </p:spPr>
      </p:sp>
      <p:sp>
        <p:nvSpPr>
          <p:cNvPr id="21" name="Text 19"/>
          <p:cNvSpPr/>
          <p:nvPr/>
        </p:nvSpPr>
        <p:spPr>
          <a:xfrm>
            <a:off x="793790" y="611695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Evaluation</a:t>
            </a:r>
            <a:endParaRPr lang="en-US" sz="1950" dirty="0"/>
          </a:p>
        </p:txBody>
      </p:sp>
      <p:sp>
        <p:nvSpPr>
          <p:cNvPr id="22" name="Text 20"/>
          <p:cNvSpPr/>
          <p:nvPr/>
        </p:nvSpPr>
        <p:spPr>
          <a:xfrm>
            <a:off x="793790" y="654617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Compare models on precision, recall, F1, and ROC AUC; conduct cost-benefit analysis</a:t>
            </a:r>
            <a:endParaRPr lang="en-US" sz="1550" dirty="0"/>
          </a:p>
        </p:txBody>
      </p:sp>
      <p:sp>
        <p:nvSpPr>
          <p:cNvPr id="23" name="Text 21"/>
          <p:cNvSpPr/>
          <p:nvPr/>
        </p:nvSpPr>
        <p:spPr>
          <a:xfrm>
            <a:off x="7414379" y="565773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06</a:t>
            </a:r>
            <a:endParaRPr lang="en-US" sz="1550" dirty="0"/>
          </a:p>
        </p:txBody>
      </p:sp>
      <p:sp>
        <p:nvSpPr>
          <p:cNvPr id="24" name="Shape 22"/>
          <p:cNvSpPr/>
          <p:nvPr/>
        </p:nvSpPr>
        <p:spPr>
          <a:xfrm>
            <a:off x="7414379" y="5972056"/>
            <a:ext cx="6422231" cy="22860"/>
          </a:xfrm>
          <a:prstGeom prst="rect">
            <a:avLst/>
          </a:prstGeom>
          <a:solidFill>
            <a:srgbClr val="1C9770"/>
          </a:solidFill>
          <a:ln/>
        </p:spPr>
      </p:sp>
      <p:sp>
        <p:nvSpPr>
          <p:cNvPr id="25" name="Text 23"/>
          <p:cNvSpPr/>
          <p:nvPr/>
        </p:nvSpPr>
        <p:spPr>
          <a:xfrm>
            <a:off x="7414379" y="611695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Deployment</a:t>
            </a:r>
            <a:endParaRPr lang="en-US" sz="1950" dirty="0"/>
          </a:p>
        </p:txBody>
      </p:sp>
      <p:sp>
        <p:nvSpPr>
          <p:cNvPr id="26" name="Text 24"/>
          <p:cNvSpPr/>
          <p:nvPr/>
        </p:nvSpPr>
        <p:spPr>
          <a:xfrm>
            <a:off x="7414379" y="654617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Plan real-time integration with &lt;100ms latency, threshold tuning, and monthly retraining</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40769" y="303014"/>
            <a:ext cx="3934539" cy="344329"/>
          </a:xfrm>
          <a:prstGeom prst="rect">
            <a:avLst/>
          </a:prstGeom>
          <a:noFill/>
          <a:ln/>
        </p:spPr>
        <p:txBody>
          <a:bodyPr wrap="none" lIns="0" tIns="0" rIns="0" bIns="0" rtlCol="0" anchor="t"/>
          <a:lstStyle/>
          <a:p>
            <a:pPr algn="l" indent="0" marL="0">
              <a:lnSpc>
                <a:spcPts val="2700"/>
              </a:lnSpc>
              <a:buNone/>
            </a:pPr>
            <a:r>
              <a:rPr lang="en-US" sz="2150" dirty="0">
                <a:solidFill>
                  <a:srgbClr val="030303"/>
                </a:solidFill>
                <a:latin typeface="DM Sans Semi Bold" pitchFamily="34" charset="0"/>
                <a:ea typeface="DM Sans Semi Bold" pitchFamily="34" charset="-122"/>
                <a:cs typeface="DM Sans Semi Bold" pitchFamily="34" charset="-120"/>
              </a:rPr>
              <a:t>CRISP-DM Model Comparison</a:t>
            </a:r>
            <a:endParaRPr lang="en-US" sz="2150" dirty="0"/>
          </a:p>
        </p:txBody>
      </p:sp>
      <p:sp>
        <p:nvSpPr>
          <p:cNvPr id="3" name="Text 1"/>
          <p:cNvSpPr/>
          <p:nvPr/>
        </p:nvSpPr>
        <p:spPr>
          <a:xfrm>
            <a:off x="440769" y="867727"/>
            <a:ext cx="13748861" cy="176332"/>
          </a:xfrm>
          <a:prstGeom prst="rect">
            <a:avLst/>
          </a:prstGeom>
          <a:noFill/>
          <a:ln/>
        </p:spPr>
        <p:txBody>
          <a:bodyPr wrap="none" lIns="0" tIns="0" rIns="0" bIns="0" rtlCol="0" anchor="t"/>
          <a:lstStyle/>
          <a:p>
            <a:pPr algn="l" indent="0" marL="0">
              <a:lnSpc>
                <a:spcPts val="1350"/>
              </a:lnSpc>
              <a:buNone/>
            </a:pPr>
            <a:r>
              <a:rPr lang="en-US" sz="850" dirty="0">
                <a:solidFill>
                  <a:srgbClr val="464646"/>
                </a:solidFill>
                <a:latin typeface="Inter Medium" pitchFamily="34" charset="0"/>
                <a:ea typeface="Inter Medium" pitchFamily="34" charset="-122"/>
                <a:cs typeface="Inter Medium" pitchFamily="34" charset="-120"/>
              </a:rPr>
              <a:t>Two complementary models established both a linear baseline and captured nonlinear interactions. The Random Forest's ensemble approach dramatically improved both precision and recall.</a:t>
            </a:r>
            <a:endParaRPr lang="en-US" sz="850" dirty="0"/>
          </a:p>
        </p:txBody>
      </p:sp>
      <p:pic>
        <p:nvPicPr>
          <p:cNvPr id="4" name="Image 0" descr="preencoded.png">    </p:cNvPr>
          <p:cNvPicPr>
            <a:picLocks noChangeAspect="1"/>
          </p:cNvPicPr>
          <p:nvPr/>
        </p:nvPicPr>
        <p:blipFill>
          <a:blip r:embed="rId1"/>
          <a:stretch>
            <a:fillRect/>
          </a:stretch>
        </p:blipFill>
        <p:spPr>
          <a:xfrm>
            <a:off x="440769" y="1168003"/>
            <a:ext cx="13748861" cy="7368659"/>
          </a:xfrm>
          <a:prstGeom prst="rect">
            <a:avLst/>
          </a:prstGeom>
        </p:spPr>
      </p:pic>
      <p:sp>
        <p:nvSpPr>
          <p:cNvPr id="5" name="Shape 2"/>
          <p:cNvSpPr/>
          <p:nvPr/>
        </p:nvSpPr>
        <p:spPr>
          <a:xfrm>
            <a:off x="6038493" y="8536662"/>
            <a:ext cx="110133" cy="110133"/>
          </a:xfrm>
          <a:prstGeom prst="roundRect">
            <a:avLst>
              <a:gd name="adj" fmla="val 16605"/>
            </a:avLst>
          </a:prstGeom>
          <a:solidFill>
            <a:srgbClr val="0C4130"/>
          </a:solidFill>
          <a:ln/>
        </p:spPr>
      </p:sp>
      <p:sp>
        <p:nvSpPr>
          <p:cNvPr id="6" name="Text 3"/>
          <p:cNvSpPr/>
          <p:nvPr/>
        </p:nvSpPr>
        <p:spPr>
          <a:xfrm>
            <a:off x="6209586" y="8536662"/>
            <a:ext cx="1029414" cy="110252"/>
          </a:xfrm>
          <a:prstGeom prst="rect">
            <a:avLst/>
          </a:prstGeom>
          <a:noFill/>
          <a:ln/>
        </p:spPr>
        <p:txBody>
          <a:bodyPr wrap="none" lIns="0" tIns="0" rIns="0" bIns="0" rtlCol="0" anchor="t"/>
          <a:lstStyle/>
          <a:p>
            <a:pPr algn="l" indent="0" marL="0">
              <a:lnSpc>
                <a:spcPts val="850"/>
              </a:lnSpc>
              <a:buNone/>
            </a:pPr>
            <a:r>
              <a:rPr lang="en-US" sz="850" dirty="0">
                <a:solidFill>
                  <a:srgbClr val="464646"/>
                </a:solidFill>
                <a:latin typeface="Inter Medium" pitchFamily="34" charset="0"/>
                <a:ea typeface="Inter Medium" pitchFamily="34" charset="-122"/>
                <a:cs typeface="Inter Medium" pitchFamily="34" charset="-120"/>
              </a:rPr>
              <a:t>Logistic Regression</a:t>
            </a:r>
            <a:endParaRPr lang="en-US" sz="850" dirty="0"/>
          </a:p>
        </p:txBody>
      </p:sp>
      <p:sp>
        <p:nvSpPr>
          <p:cNvPr id="7" name="Shape 4"/>
          <p:cNvSpPr/>
          <p:nvPr/>
        </p:nvSpPr>
        <p:spPr>
          <a:xfrm>
            <a:off x="7391400" y="8536662"/>
            <a:ext cx="110133" cy="110133"/>
          </a:xfrm>
          <a:prstGeom prst="roundRect">
            <a:avLst>
              <a:gd name="adj" fmla="val 16605"/>
            </a:avLst>
          </a:prstGeom>
          <a:solidFill>
            <a:srgbClr val="157255"/>
          </a:solidFill>
          <a:ln/>
        </p:spPr>
      </p:sp>
      <p:sp>
        <p:nvSpPr>
          <p:cNvPr id="8" name="Text 5"/>
          <p:cNvSpPr/>
          <p:nvPr/>
        </p:nvSpPr>
        <p:spPr>
          <a:xfrm>
            <a:off x="7562493" y="8536662"/>
            <a:ext cx="790932" cy="110252"/>
          </a:xfrm>
          <a:prstGeom prst="rect">
            <a:avLst/>
          </a:prstGeom>
          <a:noFill/>
          <a:ln/>
        </p:spPr>
        <p:txBody>
          <a:bodyPr wrap="none" lIns="0" tIns="0" rIns="0" bIns="0" rtlCol="0" anchor="t"/>
          <a:lstStyle/>
          <a:p>
            <a:pPr algn="l" indent="0" marL="0">
              <a:lnSpc>
                <a:spcPts val="850"/>
              </a:lnSpc>
              <a:buNone/>
            </a:pPr>
            <a:r>
              <a:rPr lang="en-US" sz="850" dirty="0">
                <a:solidFill>
                  <a:srgbClr val="464646"/>
                </a:solidFill>
                <a:latin typeface="Inter Medium" pitchFamily="34" charset="0"/>
                <a:ea typeface="Inter Medium" pitchFamily="34" charset="-122"/>
                <a:cs typeface="Inter Medium" pitchFamily="34" charset="-120"/>
              </a:rPr>
              <a:t>Random Forest</a:t>
            </a:r>
            <a:endParaRPr lang="en-US" sz="850" dirty="0"/>
          </a:p>
        </p:txBody>
      </p:sp>
      <p:sp>
        <p:nvSpPr>
          <p:cNvPr id="9" name="Text 6"/>
          <p:cNvSpPr/>
          <p:nvPr/>
        </p:nvSpPr>
        <p:spPr>
          <a:xfrm>
            <a:off x="440769" y="9101376"/>
            <a:ext cx="1377434" cy="172164"/>
          </a:xfrm>
          <a:prstGeom prst="rect">
            <a:avLst/>
          </a:prstGeom>
          <a:noFill/>
          <a:ln/>
        </p:spPr>
        <p:txBody>
          <a:bodyPr wrap="none" lIns="0" tIns="0" rIns="0" bIns="0" rtlCol="0" anchor="t"/>
          <a:lstStyle/>
          <a:p>
            <a:pPr algn="l" indent="0" marL="0">
              <a:lnSpc>
                <a:spcPts val="1350"/>
              </a:lnSpc>
              <a:buNone/>
            </a:pPr>
            <a:r>
              <a:rPr lang="en-US" sz="1050" dirty="0">
                <a:solidFill>
                  <a:srgbClr val="030303"/>
                </a:solidFill>
                <a:latin typeface="DM Sans Semi Bold" pitchFamily="34" charset="0"/>
                <a:ea typeface="DM Sans Semi Bold" pitchFamily="34" charset="-122"/>
                <a:cs typeface="DM Sans Semi Bold" pitchFamily="34" charset="-120"/>
              </a:rPr>
              <a:t>Business Impact</a:t>
            </a:r>
            <a:endParaRPr lang="en-US" sz="1050" dirty="0"/>
          </a:p>
        </p:txBody>
      </p:sp>
      <p:sp>
        <p:nvSpPr>
          <p:cNvPr id="10" name="Text 7"/>
          <p:cNvSpPr/>
          <p:nvPr/>
        </p:nvSpPr>
        <p:spPr>
          <a:xfrm>
            <a:off x="440769" y="9383673"/>
            <a:ext cx="6740009" cy="352663"/>
          </a:xfrm>
          <a:prstGeom prst="rect">
            <a:avLst/>
          </a:prstGeom>
          <a:noFill/>
          <a:ln/>
        </p:spPr>
        <p:txBody>
          <a:bodyPr wrap="square" lIns="0" tIns="0" rIns="0" bIns="0" rtlCol="0" anchor="t"/>
          <a:lstStyle/>
          <a:p>
            <a:pPr algn="l" indent="0" marL="0">
              <a:lnSpc>
                <a:spcPts val="1350"/>
              </a:lnSpc>
              <a:buNone/>
            </a:pPr>
            <a:r>
              <a:rPr lang="en-US" sz="850" dirty="0">
                <a:solidFill>
                  <a:srgbClr val="464646"/>
                </a:solidFill>
                <a:latin typeface="Inter Medium" pitchFamily="34" charset="0"/>
                <a:ea typeface="Inter Medium" pitchFamily="34" charset="-122"/>
                <a:cs typeface="Inter Medium" pitchFamily="34" charset="-120"/>
              </a:rPr>
              <a:t>The Random Forest caught 111 of 148 fraud cases with only 4 false positives, preventing approximately </a:t>
            </a:r>
            <a:pPr algn="l" indent="0" marL="0">
              <a:lnSpc>
                <a:spcPts val="1350"/>
              </a:lnSpc>
              <a:buNone/>
            </a:pPr>
            <a:r>
              <a:rPr lang="en-US" sz="850" b="1" dirty="0">
                <a:solidFill>
                  <a:srgbClr val="464646"/>
                </a:solidFill>
                <a:latin typeface="Inter Medium" pitchFamily="34" charset="0"/>
                <a:ea typeface="Inter Medium" pitchFamily="34" charset="-122"/>
                <a:cs typeface="Inter Medium" pitchFamily="34" charset="-120"/>
              </a:rPr>
              <a:t>$11,500 in fraud losses</a:t>
            </a:r>
            <a:pPr algn="l" indent="0" marL="0">
              <a:lnSpc>
                <a:spcPts val="1350"/>
              </a:lnSpc>
              <a:buNone/>
            </a:pPr>
            <a:r>
              <a:rPr lang="en-US" sz="850" dirty="0">
                <a:solidFill>
                  <a:srgbClr val="464646"/>
                </a:solidFill>
                <a:latin typeface="Inter Medium" pitchFamily="34" charset="0"/>
                <a:ea typeface="Inter Medium" pitchFamily="34" charset="-122"/>
                <a:cs typeface="Inter Medium" pitchFamily="34" charset="-120"/>
              </a:rPr>
              <a:t> on the test set alone. Scaled to millions of daily transactions, this translates to millions in annual savings.</a:t>
            </a:r>
            <a:endParaRPr lang="en-US" sz="850" dirty="0"/>
          </a:p>
        </p:txBody>
      </p:sp>
      <p:sp>
        <p:nvSpPr>
          <p:cNvPr id="11" name="Text 8"/>
          <p:cNvSpPr/>
          <p:nvPr/>
        </p:nvSpPr>
        <p:spPr>
          <a:xfrm>
            <a:off x="7457242" y="9101376"/>
            <a:ext cx="1377434" cy="172164"/>
          </a:xfrm>
          <a:prstGeom prst="rect">
            <a:avLst/>
          </a:prstGeom>
          <a:noFill/>
          <a:ln/>
        </p:spPr>
        <p:txBody>
          <a:bodyPr wrap="none" lIns="0" tIns="0" rIns="0" bIns="0" rtlCol="0" anchor="t"/>
          <a:lstStyle/>
          <a:p>
            <a:pPr algn="l" indent="0" marL="0">
              <a:lnSpc>
                <a:spcPts val="1350"/>
              </a:lnSpc>
              <a:buNone/>
            </a:pPr>
            <a:r>
              <a:rPr lang="en-US" sz="1050" dirty="0">
                <a:solidFill>
                  <a:srgbClr val="030303"/>
                </a:solidFill>
                <a:latin typeface="DM Sans Semi Bold" pitchFamily="34" charset="0"/>
                <a:ea typeface="DM Sans Semi Bold" pitchFamily="34" charset="-122"/>
                <a:cs typeface="DM Sans Semi Bold" pitchFamily="34" charset="-120"/>
              </a:rPr>
              <a:t>Key Insight</a:t>
            </a:r>
            <a:endParaRPr lang="en-US" sz="1050" dirty="0"/>
          </a:p>
        </p:txBody>
      </p:sp>
      <p:sp>
        <p:nvSpPr>
          <p:cNvPr id="12" name="Text 9"/>
          <p:cNvSpPr/>
          <p:nvPr/>
        </p:nvSpPr>
        <p:spPr>
          <a:xfrm>
            <a:off x="7457242" y="9383673"/>
            <a:ext cx="6740009" cy="352663"/>
          </a:xfrm>
          <a:prstGeom prst="rect">
            <a:avLst/>
          </a:prstGeom>
          <a:noFill/>
          <a:ln/>
        </p:spPr>
        <p:txBody>
          <a:bodyPr wrap="square" lIns="0" tIns="0" rIns="0" bIns="0" rtlCol="0" anchor="t"/>
          <a:lstStyle/>
          <a:p>
            <a:pPr algn="l" indent="0" marL="0">
              <a:lnSpc>
                <a:spcPts val="1350"/>
              </a:lnSpc>
              <a:buNone/>
            </a:pPr>
            <a:r>
              <a:rPr lang="en-US" sz="850" dirty="0">
                <a:solidFill>
                  <a:srgbClr val="464646"/>
                </a:solidFill>
                <a:latin typeface="Inter Medium" pitchFamily="34" charset="0"/>
                <a:ea typeface="Inter Medium" pitchFamily="34" charset="-122"/>
                <a:cs typeface="Inter Medium" pitchFamily="34" charset="-120"/>
              </a:rPr>
              <a:t>While the 75% recall means 25% of frauds still slip through, the 96.5% precision ensures fraud analysts waste minimal time investigating false alerts—a critical operational consideration.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2115" y="504468"/>
            <a:ext cx="7292102" cy="572095"/>
          </a:xfrm>
          <a:prstGeom prst="rect">
            <a:avLst/>
          </a:prstGeom>
          <a:noFill/>
          <a:ln/>
        </p:spPr>
        <p:txBody>
          <a:bodyPr wrap="none" lIns="0" tIns="0" rIns="0" bIns="0" rtlCol="0" anchor="t"/>
          <a:lstStyle/>
          <a:p>
            <a:pPr algn="l" indent="0" marL="0">
              <a:lnSpc>
                <a:spcPts val="4500"/>
              </a:lnSpc>
              <a:buNone/>
            </a:pPr>
            <a:r>
              <a:rPr lang="en-US" sz="3600" dirty="0">
                <a:solidFill>
                  <a:srgbClr val="030303"/>
                </a:solidFill>
                <a:latin typeface="DM Sans Semi Bold" pitchFamily="34" charset="0"/>
                <a:ea typeface="DM Sans Semi Bold" pitchFamily="34" charset="-122"/>
                <a:cs typeface="DM Sans Semi Bold" pitchFamily="34" charset="-120"/>
              </a:rPr>
              <a:t>SEMMA: Rapid Prototyping Power</a:t>
            </a:r>
            <a:endParaRPr lang="en-US" sz="3600" dirty="0"/>
          </a:p>
        </p:txBody>
      </p:sp>
      <p:sp>
        <p:nvSpPr>
          <p:cNvPr id="3" name="Text 1"/>
          <p:cNvSpPr/>
          <p:nvPr/>
        </p:nvSpPr>
        <p:spPr>
          <a:xfrm>
            <a:off x="732115" y="1442561"/>
            <a:ext cx="13166169" cy="585549"/>
          </a:xfrm>
          <a:prstGeom prst="rect">
            <a:avLst/>
          </a:prstGeom>
          <a:noFill/>
          <a:ln/>
        </p:spPr>
        <p:txBody>
          <a:bodyPr wrap="square" lIns="0" tIns="0" rIns="0" bIns="0" rtlCol="0" anchor="t"/>
          <a:lstStyle/>
          <a:p>
            <a:pPr algn="l" indent="0" marL="0">
              <a:lnSpc>
                <a:spcPts val="2300"/>
              </a:lnSpc>
              <a:buNone/>
            </a:pPr>
            <a:r>
              <a:rPr lang="en-US" sz="1400" dirty="0">
                <a:solidFill>
                  <a:srgbClr val="464646"/>
                </a:solidFill>
                <a:latin typeface="Inter Medium" pitchFamily="34" charset="0"/>
                <a:ea typeface="Inter Medium" pitchFamily="34" charset="-122"/>
                <a:cs typeface="Inter Medium" pitchFamily="34" charset="-120"/>
              </a:rPr>
              <a:t>The SEMMA methodology (Sample, Explore, Modify, Model, Assess) emphasizes rapid iteration and exploratory analysis. Originally developed by SAS Institute, SEMMA focuses on the technical data mining workflow rather than comprehensive business planning.</a:t>
            </a:r>
            <a:endParaRPr lang="en-US" sz="1400" dirty="0"/>
          </a:p>
        </p:txBody>
      </p:sp>
      <p:pic>
        <p:nvPicPr>
          <p:cNvPr id="4" name="Image 0" descr="preencoded.png">    </p:cNvPr>
          <p:cNvPicPr>
            <a:picLocks noChangeAspect="1"/>
          </p:cNvPicPr>
          <p:nvPr/>
        </p:nvPicPr>
        <p:blipFill>
          <a:blip r:embed="rId1"/>
          <a:stretch>
            <a:fillRect/>
          </a:stretch>
        </p:blipFill>
        <p:spPr>
          <a:xfrm>
            <a:off x="732115" y="2233970"/>
            <a:ext cx="915233" cy="1098232"/>
          </a:xfrm>
          <a:prstGeom prst="rect">
            <a:avLst/>
          </a:prstGeom>
        </p:spPr>
      </p:pic>
      <p:sp>
        <p:nvSpPr>
          <p:cNvPr id="5" name="Text 2"/>
          <p:cNvSpPr/>
          <p:nvPr/>
        </p:nvSpPr>
        <p:spPr>
          <a:xfrm>
            <a:off x="1830348" y="2416969"/>
            <a:ext cx="2288024" cy="285988"/>
          </a:xfrm>
          <a:prstGeom prst="rect">
            <a:avLst/>
          </a:prstGeom>
          <a:noFill/>
          <a:ln/>
        </p:spPr>
        <p:txBody>
          <a:bodyPr wrap="none" lIns="0" tIns="0" rIns="0" bIns="0" rtlCol="0" anchor="t"/>
          <a:lstStyle/>
          <a:p>
            <a:pPr algn="l" indent="0" marL="0">
              <a:lnSpc>
                <a:spcPts val="2250"/>
              </a:lnSpc>
              <a:buNone/>
            </a:pPr>
            <a:r>
              <a:rPr lang="en-US" sz="1800" dirty="0">
                <a:solidFill>
                  <a:srgbClr val="464646"/>
                </a:solidFill>
                <a:latin typeface="DM Sans Semi Bold" pitchFamily="34" charset="0"/>
                <a:ea typeface="DM Sans Semi Bold" pitchFamily="34" charset="-122"/>
                <a:cs typeface="DM Sans Semi Bold" pitchFamily="34" charset="-120"/>
              </a:rPr>
              <a:t>Sample</a:t>
            </a:r>
            <a:endParaRPr lang="en-US" sz="1800" dirty="0"/>
          </a:p>
        </p:txBody>
      </p:sp>
      <p:sp>
        <p:nvSpPr>
          <p:cNvPr id="6" name="Text 3"/>
          <p:cNvSpPr/>
          <p:nvPr/>
        </p:nvSpPr>
        <p:spPr>
          <a:xfrm>
            <a:off x="1830348" y="2812733"/>
            <a:ext cx="12067937" cy="292775"/>
          </a:xfrm>
          <a:prstGeom prst="rect">
            <a:avLst/>
          </a:prstGeom>
          <a:noFill/>
          <a:ln/>
        </p:spPr>
        <p:txBody>
          <a:bodyPr wrap="none" lIns="0" tIns="0" rIns="0" bIns="0" rtlCol="0" anchor="t"/>
          <a:lstStyle/>
          <a:p>
            <a:pPr algn="l" indent="0" marL="0">
              <a:lnSpc>
                <a:spcPts val="2300"/>
              </a:lnSpc>
              <a:buNone/>
            </a:pPr>
            <a:r>
              <a:rPr lang="en-US" sz="1400" dirty="0">
                <a:solidFill>
                  <a:srgbClr val="464646"/>
                </a:solidFill>
                <a:latin typeface="Inter Medium" pitchFamily="34" charset="0"/>
                <a:ea typeface="Inter Medium" pitchFamily="34" charset="-122"/>
                <a:cs typeface="Inter Medium" pitchFamily="34" charset="-120"/>
              </a:rPr>
              <a:t>Strategic reduction to 49,492 transactions</a:t>
            </a:r>
            <a:endParaRPr lang="en-US" sz="1400" dirty="0"/>
          </a:p>
        </p:txBody>
      </p:sp>
      <p:pic>
        <p:nvPicPr>
          <p:cNvPr id="7" name="Image 1" descr="preencoded.png">    </p:cNvPr>
          <p:cNvPicPr>
            <a:picLocks noChangeAspect="1"/>
          </p:cNvPicPr>
          <p:nvPr/>
        </p:nvPicPr>
        <p:blipFill>
          <a:blip r:embed="rId2"/>
          <a:stretch>
            <a:fillRect/>
          </a:stretch>
        </p:blipFill>
        <p:spPr>
          <a:xfrm>
            <a:off x="732115" y="3332202"/>
            <a:ext cx="915233" cy="1098232"/>
          </a:xfrm>
          <a:prstGeom prst="rect">
            <a:avLst/>
          </a:prstGeom>
        </p:spPr>
      </p:pic>
      <p:sp>
        <p:nvSpPr>
          <p:cNvPr id="8" name="Text 4"/>
          <p:cNvSpPr/>
          <p:nvPr/>
        </p:nvSpPr>
        <p:spPr>
          <a:xfrm>
            <a:off x="1830348" y="3515201"/>
            <a:ext cx="2288024" cy="285988"/>
          </a:xfrm>
          <a:prstGeom prst="rect">
            <a:avLst/>
          </a:prstGeom>
          <a:noFill/>
          <a:ln/>
        </p:spPr>
        <p:txBody>
          <a:bodyPr wrap="none" lIns="0" tIns="0" rIns="0" bIns="0" rtlCol="0" anchor="t"/>
          <a:lstStyle/>
          <a:p>
            <a:pPr algn="l" indent="0" marL="0">
              <a:lnSpc>
                <a:spcPts val="2250"/>
              </a:lnSpc>
              <a:buNone/>
            </a:pPr>
            <a:r>
              <a:rPr lang="en-US" sz="1800" dirty="0">
                <a:solidFill>
                  <a:srgbClr val="464646"/>
                </a:solidFill>
                <a:latin typeface="DM Sans Semi Bold" pitchFamily="34" charset="0"/>
                <a:ea typeface="DM Sans Semi Bold" pitchFamily="34" charset="-122"/>
                <a:cs typeface="DM Sans Semi Bold" pitchFamily="34" charset="-120"/>
              </a:rPr>
              <a:t>Explore</a:t>
            </a:r>
            <a:endParaRPr lang="en-US" sz="1800" dirty="0"/>
          </a:p>
        </p:txBody>
      </p:sp>
      <p:sp>
        <p:nvSpPr>
          <p:cNvPr id="9" name="Text 5"/>
          <p:cNvSpPr/>
          <p:nvPr/>
        </p:nvSpPr>
        <p:spPr>
          <a:xfrm>
            <a:off x="1830348" y="3910965"/>
            <a:ext cx="12067937" cy="292775"/>
          </a:xfrm>
          <a:prstGeom prst="rect">
            <a:avLst/>
          </a:prstGeom>
          <a:noFill/>
          <a:ln/>
        </p:spPr>
        <p:txBody>
          <a:bodyPr wrap="none" lIns="0" tIns="0" rIns="0" bIns="0" rtlCol="0" anchor="t"/>
          <a:lstStyle/>
          <a:p>
            <a:pPr algn="l" indent="0" marL="0">
              <a:lnSpc>
                <a:spcPts val="2300"/>
              </a:lnSpc>
              <a:buNone/>
            </a:pPr>
            <a:r>
              <a:rPr lang="en-US" sz="1400" dirty="0">
                <a:solidFill>
                  <a:srgbClr val="464646"/>
                </a:solidFill>
                <a:latin typeface="Inter Medium" pitchFamily="34" charset="0"/>
                <a:ea typeface="Inter Medium" pitchFamily="34" charset="-122"/>
                <a:cs typeface="Inter Medium" pitchFamily="34" charset="-120"/>
              </a:rPr>
              <a:t>Visual discovery of patterns and correlations</a:t>
            </a:r>
            <a:endParaRPr lang="en-US" sz="1400" dirty="0"/>
          </a:p>
        </p:txBody>
      </p:sp>
      <p:pic>
        <p:nvPicPr>
          <p:cNvPr id="10" name="Image 2" descr="preencoded.png">    </p:cNvPr>
          <p:cNvPicPr>
            <a:picLocks noChangeAspect="1"/>
          </p:cNvPicPr>
          <p:nvPr/>
        </p:nvPicPr>
        <p:blipFill>
          <a:blip r:embed="rId3"/>
          <a:stretch>
            <a:fillRect/>
          </a:stretch>
        </p:blipFill>
        <p:spPr>
          <a:xfrm>
            <a:off x="732115" y="4430435"/>
            <a:ext cx="915233" cy="1098232"/>
          </a:xfrm>
          <a:prstGeom prst="rect">
            <a:avLst/>
          </a:prstGeom>
        </p:spPr>
      </p:pic>
      <p:sp>
        <p:nvSpPr>
          <p:cNvPr id="11" name="Text 6"/>
          <p:cNvSpPr/>
          <p:nvPr/>
        </p:nvSpPr>
        <p:spPr>
          <a:xfrm>
            <a:off x="1830348" y="4613434"/>
            <a:ext cx="2288024" cy="285988"/>
          </a:xfrm>
          <a:prstGeom prst="rect">
            <a:avLst/>
          </a:prstGeom>
          <a:noFill/>
          <a:ln/>
        </p:spPr>
        <p:txBody>
          <a:bodyPr wrap="none" lIns="0" tIns="0" rIns="0" bIns="0" rtlCol="0" anchor="t"/>
          <a:lstStyle/>
          <a:p>
            <a:pPr algn="l" indent="0" marL="0">
              <a:lnSpc>
                <a:spcPts val="2250"/>
              </a:lnSpc>
              <a:buNone/>
            </a:pPr>
            <a:r>
              <a:rPr lang="en-US" sz="1800" dirty="0">
                <a:solidFill>
                  <a:srgbClr val="464646"/>
                </a:solidFill>
                <a:latin typeface="DM Sans Semi Bold" pitchFamily="34" charset="0"/>
                <a:ea typeface="DM Sans Semi Bold" pitchFamily="34" charset="-122"/>
                <a:cs typeface="DM Sans Semi Bold" pitchFamily="34" charset="-120"/>
              </a:rPr>
              <a:t>Modify</a:t>
            </a:r>
            <a:endParaRPr lang="en-US" sz="1800" dirty="0"/>
          </a:p>
        </p:txBody>
      </p:sp>
      <p:sp>
        <p:nvSpPr>
          <p:cNvPr id="12" name="Text 7"/>
          <p:cNvSpPr/>
          <p:nvPr/>
        </p:nvSpPr>
        <p:spPr>
          <a:xfrm>
            <a:off x="1830348" y="5009198"/>
            <a:ext cx="12067937" cy="292775"/>
          </a:xfrm>
          <a:prstGeom prst="rect">
            <a:avLst/>
          </a:prstGeom>
          <a:noFill/>
          <a:ln/>
        </p:spPr>
        <p:txBody>
          <a:bodyPr wrap="none" lIns="0" tIns="0" rIns="0" bIns="0" rtlCol="0" anchor="t"/>
          <a:lstStyle/>
          <a:p>
            <a:pPr algn="l" indent="0" marL="0">
              <a:lnSpc>
                <a:spcPts val="2300"/>
              </a:lnSpc>
              <a:buNone/>
            </a:pPr>
            <a:r>
              <a:rPr lang="en-US" sz="1400" dirty="0">
                <a:solidFill>
                  <a:srgbClr val="464646"/>
                </a:solidFill>
                <a:latin typeface="Inter Medium" pitchFamily="34" charset="0"/>
                <a:ea typeface="Inter Medium" pitchFamily="34" charset="-122"/>
                <a:cs typeface="Inter Medium" pitchFamily="34" charset="-120"/>
              </a:rPr>
              <a:t>Feature standardization and train/test split</a:t>
            </a:r>
            <a:endParaRPr lang="en-US" sz="1400" dirty="0"/>
          </a:p>
        </p:txBody>
      </p:sp>
      <p:pic>
        <p:nvPicPr>
          <p:cNvPr id="13" name="Image 3" descr="preencoded.png">    </p:cNvPr>
          <p:cNvPicPr>
            <a:picLocks noChangeAspect="1"/>
          </p:cNvPicPr>
          <p:nvPr/>
        </p:nvPicPr>
        <p:blipFill>
          <a:blip r:embed="rId4"/>
          <a:stretch>
            <a:fillRect/>
          </a:stretch>
        </p:blipFill>
        <p:spPr>
          <a:xfrm>
            <a:off x="732115" y="5528667"/>
            <a:ext cx="915233" cy="1098232"/>
          </a:xfrm>
          <a:prstGeom prst="rect">
            <a:avLst/>
          </a:prstGeom>
        </p:spPr>
      </p:pic>
      <p:sp>
        <p:nvSpPr>
          <p:cNvPr id="14" name="Text 8"/>
          <p:cNvSpPr/>
          <p:nvPr/>
        </p:nvSpPr>
        <p:spPr>
          <a:xfrm>
            <a:off x="1830348" y="5711666"/>
            <a:ext cx="2288024" cy="285988"/>
          </a:xfrm>
          <a:prstGeom prst="rect">
            <a:avLst/>
          </a:prstGeom>
          <a:noFill/>
          <a:ln/>
        </p:spPr>
        <p:txBody>
          <a:bodyPr wrap="none" lIns="0" tIns="0" rIns="0" bIns="0" rtlCol="0" anchor="t"/>
          <a:lstStyle/>
          <a:p>
            <a:pPr algn="l" indent="0" marL="0">
              <a:lnSpc>
                <a:spcPts val="2250"/>
              </a:lnSpc>
              <a:buNone/>
            </a:pPr>
            <a:r>
              <a:rPr lang="en-US" sz="1800" dirty="0">
                <a:solidFill>
                  <a:srgbClr val="464646"/>
                </a:solidFill>
                <a:latin typeface="DM Sans Semi Bold" pitchFamily="34" charset="0"/>
                <a:ea typeface="DM Sans Semi Bold" pitchFamily="34" charset="-122"/>
                <a:cs typeface="DM Sans Semi Bold" pitchFamily="34" charset="-120"/>
              </a:rPr>
              <a:t>Model</a:t>
            </a:r>
            <a:endParaRPr lang="en-US" sz="1800" dirty="0"/>
          </a:p>
        </p:txBody>
      </p:sp>
      <p:sp>
        <p:nvSpPr>
          <p:cNvPr id="15" name="Text 9"/>
          <p:cNvSpPr/>
          <p:nvPr/>
        </p:nvSpPr>
        <p:spPr>
          <a:xfrm>
            <a:off x="1830348" y="6107430"/>
            <a:ext cx="12067937" cy="292775"/>
          </a:xfrm>
          <a:prstGeom prst="rect">
            <a:avLst/>
          </a:prstGeom>
          <a:noFill/>
          <a:ln/>
        </p:spPr>
        <p:txBody>
          <a:bodyPr wrap="none" lIns="0" tIns="0" rIns="0" bIns="0" rtlCol="0" anchor="t"/>
          <a:lstStyle/>
          <a:p>
            <a:pPr algn="l" indent="0" marL="0">
              <a:lnSpc>
                <a:spcPts val="2300"/>
              </a:lnSpc>
              <a:buNone/>
            </a:pPr>
            <a:r>
              <a:rPr lang="en-US" sz="1400" dirty="0">
                <a:solidFill>
                  <a:srgbClr val="464646"/>
                </a:solidFill>
                <a:latin typeface="Inter Medium" pitchFamily="34" charset="0"/>
                <a:ea typeface="Inter Medium" pitchFamily="34" charset="-122"/>
                <a:cs typeface="Inter Medium" pitchFamily="34" charset="-120"/>
              </a:rPr>
              <a:t>Random Forest with 100 trees</a:t>
            </a:r>
            <a:endParaRPr lang="en-US" sz="1400" dirty="0"/>
          </a:p>
        </p:txBody>
      </p:sp>
      <p:pic>
        <p:nvPicPr>
          <p:cNvPr id="16" name="Image 4" descr="preencoded.png">    </p:cNvPr>
          <p:cNvPicPr>
            <a:picLocks noChangeAspect="1"/>
          </p:cNvPicPr>
          <p:nvPr/>
        </p:nvPicPr>
        <p:blipFill>
          <a:blip r:embed="rId5"/>
          <a:stretch>
            <a:fillRect/>
          </a:stretch>
        </p:blipFill>
        <p:spPr>
          <a:xfrm>
            <a:off x="732115" y="6626900"/>
            <a:ext cx="915233" cy="1098232"/>
          </a:xfrm>
          <a:prstGeom prst="rect">
            <a:avLst/>
          </a:prstGeom>
        </p:spPr>
      </p:pic>
      <p:sp>
        <p:nvSpPr>
          <p:cNvPr id="17" name="Text 10"/>
          <p:cNvSpPr/>
          <p:nvPr/>
        </p:nvSpPr>
        <p:spPr>
          <a:xfrm>
            <a:off x="1830348" y="6809899"/>
            <a:ext cx="2288024" cy="285988"/>
          </a:xfrm>
          <a:prstGeom prst="rect">
            <a:avLst/>
          </a:prstGeom>
          <a:noFill/>
          <a:ln/>
        </p:spPr>
        <p:txBody>
          <a:bodyPr wrap="none" lIns="0" tIns="0" rIns="0" bIns="0" rtlCol="0" anchor="t"/>
          <a:lstStyle/>
          <a:p>
            <a:pPr algn="l" indent="0" marL="0">
              <a:lnSpc>
                <a:spcPts val="2250"/>
              </a:lnSpc>
              <a:buNone/>
            </a:pPr>
            <a:r>
              <a:rPr lang="en-US" sz="1800" dirty="0">
                <a:solidFill>
                  <a:srgbClr val="464646"/>
                </a:solidFill>
                <a:latin typeface="DM Sans Semi Bold" pitchFamily="34" charset="0"/>
                <a:ea typeface="DM Sans Semi Bold" pitchFamily="34" charset="-122"/>
                <a:cs typeface="DM Sans Semi Bold" pitchFamily="34" charset="-120"/>
              </a:rPr>
              <a:t>Assess</a:t>
            </a:r>
            <a:endParaRPr lang="en-US" sz="1800" dirty="0"/>
          </a:p>
        </p:txBody>
      </p:sp>
      <p:sp>
        <p:nvSpPr>
          <p:cNvPr id="18" name="Text 11"/>
          <p:cNvSpPr/>
          <p:nvPr/>
        </p:nvSpPr>
        <p:spPr>
          <a:xfrm>
            <a:off x="1830348" y="7205663"/>
            <a:ext cx="12067937" cy="292775"/>
          </a:xfrm>
          <a:prstGeom prst="rect">
            <a:avLst/>
          </a:prstGeom>
          <a:noFill/>
          <a:ln/>
        </p:spPr>
        <p:txBody>
          <a:bodyPr wrap="none" lIns="0" tIns="0" rIns="0" bIns="0" rtlCol="0" anchor="t"/>
          <a:lstStyle/>
          <a:p>
            <a:pPr algn="l" indent="0" marL="0">
              <a:lnSpc>
                <a:spcPts val="2300"/>
              </a:lnSpc>
              <a:buNone/>
            </a:pPr>
            <a:r>
              <a:rPr lang="en-US" sz="1400" dirty="0">
                <a:solidFill>
                  <a:srgbClr val="464646"/>
                </a:solidFill>
                <a:latin typeface="Inter Medium" pitchFamily="34" charset="0"/>
                <a:ea typeface="Inter Medium" pitchFamily="34" charset="-122"/>
                <a:cs typeface="Inter Medium" pitchFamily="34" charset="-120"/>
              </a:rPr>
              <a:t>Critical evaluation and iteration planning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96835" y="272891"/>
            <a:ext cx="4336494"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SEMMA: Strategic Sampling Success</a:t>
            </a:r>
            <a:endParaRPr lang="en-US" sz="1950" dirty="0"/>
          </a:p>
        </p:txBody>
      </p:sp>
      <p:sp>
        <p:nvSpPr>
          <p:cNvPr id="3" name="Text 1"/>
          <p:cNvSpPr/>
          <p:nvPr/>
        </p:nvSpPr>
        <p:spPr>
          <a:xfrm>
            <a:off x="396835" y="831056"/>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030303"/>
                </a:solidFill>
                <a:latin typeface="DM Sans Semi Bold" pitchFamily="34" charset="0"/>
                <a:ea typeface="DM Sans Semi Bold" pitchFamily="34" charset="-122"/>
                <a:cs typeface="DM Sans Semi Bold" pitchFamily="34" charset="-120"/>
              </a:rPr>
              <a:t>Sampling Strategy</a:t>
            </a:r>
            <a:endParaRPr lang="en-US" sz="1150" dirty="0"/>
          </a:p>
        </p:txBody>
      </p:sp>
      <p:sp>
        <p:nvSpPr>
          <p:cNvPr id="4" name="Text 2"/>
          <p:cNvSpPr/>
          <p:nvPr/>
        </p:nvSpPr>
        <p:spPr>
          <a:xfrm>
            <a:off x="396835" y="1116211"/>
            <a:ext cx="6797397" cy="158591"/>
          </a:xfrm>
          <a:prstGeom prst="rect">
            <a:avLst/>
          </a:prstGeom>
          <a:noFill/>
          <a:ln/>
        </p:spPr>
        <p:txBody>
          <a:bodyPr wrap="none" lIns="0" tIns="0" rIns="0" bIns="0" rtlCol="0" anchor="t"/>
          <a:lstStyle/>
          <a:p>
            <a:pPr algn="l" indent="0" marL="0">
              <a:lnSpc>
                <a:spcPts val="1250"/>
              </a:lnSpc>
              <a:buNone/>
            </a:pPr>
            <a:r>
              <a:rPr lang="en-US" sz="750" dirty="0">
                <a:solidFill>
                  <a:srgbClr val="464646"/>
                </a:solidFill>
                <a:latin typeface="Inter Medium" pitchFamily="34" charset="0"/>
                <a:ea typeface="Inter Medium" pitchFamily="34" charset="-122"/>
                <a:cs typeface="Inter Medium" pitchFamily="34" charset="-120"/>
              </a:rPr>
              <a:t>SEMMA's first phase involved creating a representative sample that balances computational efficiency with statistical validity:</a:t>
            </a:r>
            <a:endParaRPr lang="en-US" sz="750" dirty="0"/>
          </a:p>
        </p:txBody>
      </p:sp>
      <p:sp>
        <p:nvSpPr>
          <p:cNvPr id="5" name="Text 3"/>
          <p:cNvSpPr/>
          <p:nvPr/>
        </p:nvSpPr>
        <p:spPr>
          <a:xfrm>
            <a:off x="396835" y="1364099"/>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464646"/>
                </a:solidFill>
                <a:latin typeface="Inter Medium" pitchFamily="34" charset="0"/>
                <a:ea typeface="Inter Medium" pitchFamily="34" charset="-122"/>
                <a:cs typeface="Inter Medium" pitchFamily="34" charset="-120"/>
              </a:rPr>
              <a:t>Sample 49,000 legitimate transactions (17.2% of available)</a:t>
            </a:r>
            <a:endParaRPr lang="en-US" sz="750" dirty="0"/>
          </a:p>
        </p:txBody>
      </p:sp>
      <p:sp>
        <p:nvSpPr>
          <p:cNvPr id="6" name="Text 4"/>
          <p:cNvSpPr/>
          <p:nvPr/>
        </p:nvSpPr>
        <p:spPr>
          <a:xfrm>
            <a:off x="396835" y="1557338"/>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464646"/>
                </a:solidFill>
                <a:latin typeface="Inter Medium" pitchFamily="34" charset="0"/>
                <a:ea typeface="Inter Medium" pitchFamily="34" charset="-122"/>
                <a:cs typeface="Inter Medium" pitchFamily="34" charset="-120"/>
              </a:rPr>
              <a:t>Use </a:t>
            </a:r>
            <a:pPr algn="l" indent="0" marL="0">
              <a:lnSpc>
                <a:spcPts val="1250"/>
              </a:lnSpc>
              <a:buNone/>
            </a:pPr>
            <a:r>
              <a:rPr lang="en-US" sz="750" b="1" dirty="0">
                <a:solidFill>
                  <a:srgbClr val="464646"/>
                </a:solidFill>
                <a:latin typeface="Inter Medium" pitchFamily="34" charset="0"/>
                <a:ea typeface="Inter Medium" pitchFamily="34" charset="-122"/>
                <a:cs typeface="Inter Medium" pitchFamily="34" charset="-120"/>
              </a:rPr>
              <a:t>all 492 fraud cases</a:t>
            </a:r>
            <a:pPr algn="l" indent="0" marL="0">
              <a:lnSpc>
                <a:spcPts val="1250"/>
              </a:lnSpc>
              <a:buNone/>
            </a:pPr>
            <a:r>
              <a:rPr lang="en-US" sz="750" dirty="0">
                <a:solidFill>
                  <a:srgbClr val="464646"/>
                </a:solidFill>
                <a:latin typeface="Inter Medium" pitchFamily="34" charset="0"/>
                <a:ea typeface="Inter Medium" pitchFamily="34" charset="-122"/>
                <a:cs typeface="Inter Medium" pitchFamily="34" charset="-120"/>
              </a:rPr>
              <a:t> (100% retention)</a:t>
            </a:r>
            <a:endParaRPr lang="en-US" sz="750" dirty="0"/>
          </a:p>
        </p:txBody>
      </p:sp>
      <p:sp>
        <p:nvSpPr>
          <p:cNvPr id="7" name="Text 5"/>
          <p:cNvSpPr/>
          <p:nvPr/>
        </p:nvSpPr>
        <p:spPr>
          <a:xfrm>
            <a:off x="396835" y="1750576"/>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464646"/>
                </a:solidFill>
                <a:latin typeface="Inter Medium" pitchFamily="34" charset="0"/>
                <a:ea typeface="Inter Medium" pitchFamily="34" charset="-122"/>
                <a:cs typeface="Inter Medium" pitchFamily="34" charset="-120"/>
              </a:rPr>
              <a:t>Final sample: 49,492 transactions</a:t>
            </a:r>
            <a:endParaRPr lang="en-US" sz="750" dirty="0"/>
          </a:p>
        </p:txBody>
      </p:sp>
      <p:sp>
        <p:nvSpPr>
          <p:cNvPr id="8" name="Text 6"/>
          <p:cNvSpPr/>
          <p:nvPr/>
        </p:nvSpPr>
        <p:spPr>
          <a:xfrm>
            <a:off x="396835" y="1943814"/>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464646"/>
                </a:solidFill>
                <a:latin typeface="Inter Medium" pitchFamily="34" charset="0"/>
                <a:ea typeface="Inter Medium" pitchFamily="34" charset="-122"/>
                <a:cs typeface="Inter Medium" pitchFamily="34" charset="-120"/>
              </a:rPr>
              <a:t>Improved fraud representation from 0.17% to 0.99%</a:t>
            </a:r>
            <a:endParaRPr lang="en-US" sz="750" dirty="0"/>
          </a:p>
        </p:txBody>
      </p:sp>
      <p:sp>
        <p:nvSpPr>
          <p:cNvPr id="9" name="Text 7"/>
          <p:cNvSpPr/>
          <p:nvPr/>
        </p:nvSpPr>
        <p:spPr>
          <a:xfrm>
            <a:off x="396835" y="2191703"/>
            <a:ext cx="6797397" cy="158591"/>
          </a:xfrm>
          <a:prstGeom prst="rect">
            <a:avLst/>
          </a:prstGeom>
          <a:noFill/>
          <a:ln/>
        </p:spPr>
        <p:txBody>
          <a:bodyPr wrap="none" lIns="0" tIns="0" rIns="0" bIns="0" rtlCol="0" anchor="t"/>
          <a:lstStyle/>
          <a:p>
            <a:pPr algn="l" indent="0" marL="0">
              <a:lnSpc>
                <a:spcPts val="1250"/>
              </a:lnSpc>
              <a:buNone/>
            </a:pPr>
            <a:r>
              <a:rPr lang="en-US" sz="750" dirty="0">
                <a:solidFill>
                  <a:srgbClr val="464646"/>
                </a:solidFill>
                <a:latin typeface="Inter Medium" pitchFamily="34" charset="0"/>
                <a:ea typeface="Inter Medium" pitchFamily="34" charset="-122"/>
                <a:cs typeface="Inter Medium" pitchFamily="34" charset="-120"/>
              </a:rPr>
              <a:t>This strategic sampling achieved </a:t>
            </a:r>
            <a:pPr algn="l" indent="0" marL="0">
              <a:lnSpc>
                <a:spcPts val="1250"/>
              </a:lnSpc>
              <a:buNone/>
            </a:pPr>
            <a:r>
              <a:rPr lang="en-US" sz="750" b="1" dirty="0">
                <a:solidFill>
                  <a:srgbClr val="464646"/>
                </a:solidFill>
                <a:latin typeface="Inter Medium" pitchFamily="34" charset="0"/>
                <a:ea typeface="Inter Medium" pitchFamily="34" charset="-122"/>
                <a:cs typeface="Inter Medium" pitchFamily="34" charset="-120"/>
              </a:rPr>
              <a:t>6x computational speedup</a:t>
            </a:r>
            <a:pPr algn="l" indent="0" marL="0">
              <a:lnSpc>
                <a:spcPts val="1250"/>
              </a:lnSpc>
              <a:buNone/>
            </a:pPr>
            <a:r>
              <a:rPr lang="en-US" sz="750" dirty="0">
                <a:solidFill>
                  <a:srgbClr val="464646"/>
                </a:solidFill>
                <a:latin typeface="Inter Medium" pitchFamily="34" charset="0"/>
                <a:ea typeface="Inter Medium" pitchFamily="34" charset="-122"/>
                <a:cs typeface="Inter Medium" pitchFamily="34" charset="-120"/>
              </a:rPr>
              <a:t> while making fraud patterns more learnable through class rebalancing.</a:t>
            </a:r>
            <a:endParaRPr lang="en-US" sz="750" dirty="0"/>
          </a:p>
        </p:txBody>
      </p:sp>
      <p:sp>
        <p:nvSpPr>
          <p:cNvPr id="10" name="Text 8"/>
          <p:cNvSpPr/>
          <p:nvPr/>
        </p:nvSpPr>
        <p:spPr>
          <a:xfrm>
            <a:off x="7443788" y="831056"/>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030303"/>
                </a:solidFill>
                <a:latin typeface="DM Sans Semi Bold" pitchFamily="34" charset="0"/>
                <a:ea typeface="DM Sans Semi Bold" pitchFamily="34" charset="-122"/>
                <a:cs typeface="DM Sans Semi Bold" pitchFamily="34" charset="-120"/>
              </a:rPr>
              <a:t>Exceptional Results</a:t>
            </a:r>
            <a:endParaRPr lang="en-US" sz="1150" dirty="0"/>
          </a:p>
        </p:txBody>
      </p:sp>
      <p:sp>
        <p:nvSpPr>
          <p:cNvPr id="11" name="Text 9"/>
          <p:cNvSpPr/>
          <p:nvPr/>
        </p:nvSpPr>
        <p:spPr>
          <a:xfrm>
            <a:off x="10232112" y="1773555"/>
            <a:ext cx="1220510" cy="248007"/>
          </a:xfrm>
          <a:prstGeom prst="rect">
            <a:avLst/>
          </a:prstGeom>
          <a:noFill/>
          <a:ln/>
        </p:spPr>
        <p:txBody>
          <a:bodyPr wrap="none" lIns="0" tIns="0" rIns="0" bIns="0" rtlCol="0" anchor="t"/>
          <a:lstStyle/>
          <a:p>
            <a:pPr algn="ctr" indent="0" marL="0">
              <a:lnSpc>
                <a:spcPts val="1950"/>
              </a:lnSpc>
              <a:buNone/>
            </a:pPr>
            <a:r>
              <a:rPr lang="en-US" sz="1950" dirty="0">
                <a:solidFill>
                  <a:srgbClr val="464646"/>
                </a:solidFill>
                <a:latin typeface="DM Sans Semi Bold" pitchFamily="34" charset="0"/>
                <a:ea typeface="DM Sans Semi Bold" pitchFamily="34" charset="-122"/>
                <a:cs typeface="DM Sans Semi Bold" pitchFamily="34" charset="-120"/>
              </a:rPr>
              <a:t>93.85%</a:t>
            </a:r>
            <a:endParaRPr lang="en-US" sz="1950" dirty="0"/>
          </a:p>
        </p:txBody>
      </p:sp>
      <p:pic>
        <p:nvPicPr>
          <p:cNvPr id="12" name="Image 0" descr="preencoded.png">    </p:cNvPr>
          <p:cNvPicPr>
            <a:picLocks noChangeAspect="1"/>
          </p:cNvPicPr>
          <p:nvPr/>
        </p:nvPicPr>
        <p:blipFill>
          <a:blip r:embed="rId1"/>
          <a:stretch>
            <a:fillRect/>
          </a:stretch>
        </p:blipFill>
        <p:spPr>
          <a:xfrm>
            <a:off x="10098167" y="1153358"/>
            <a:ext cx="1488519" cy="1488519"/>
          </a:xfrm>
          <a:prstGeom prst="rect">
            <a:avLst/>
          </a:prstGeom>
        </p:spPr>
      </p:pic>
      <p:sp>
        <p:nvSpPr>
          <p:cNvPr id="13" name="Text 10"/>
          <p:cNvSpPr/>
          <p:nvPr/>
        </p:nvSpPr>
        <p:spPr>
          <a:xfrm>
            <a:off x="10222230" y="2765822"/>
            <a:ext cx="1240393" cy="155019"/>
          </a:xfrm>
          <a:prstGeom prst="rect">
            <a:avLst/>
          </a:prstGeom>
          <a:noFill/>
          <a:ln/>
        </p:spPr>
        <p:txBody>
          <a:bodyPr wrap="none" lIns="0" tIns="0" rIns="0" bIns="0" rtlCol="0" anchor="t"/>
          <a:lstStyle/>
          <a:p>
            <a:pPr algn="ctr" indent="0" marL="0">
              <a:lnSpc>
                <a:spcPts val="1200"/>
              </a:lnSpc>
              <a:buNone/>
            </a:pPr>
            <a:r>
              <a:rPr lang="en-US" sz="950" dirty="0">
                <a:solidFill>
                  <a:srgbClr val="464646"/>
                </a:solidFill>
                <a:latin typeface="DM Sans Semi Bold" pitchFamily="34" charset="0"/>
                <a:ea typeface="DM Sans Semi Bold" pitchFamily="34" charset="-122"/>
                <a:cs typeface="DM Sans Semi Bold" pitchFamily="34" charset="-120"/>
              </a:rPr>
              <a:t>Precision</a:t>
            </a:r>
            <a:endParaRPr lang="en-US" sz="950" dirty="0"/>
          </a:p>
        </p:txBody>
      </p:sp>
      <p:sp>
        <p:nvSpPr>
          <p:cNvPr id="14" name="Text 11"/>
          <p:cNvSpPr/>
          <p:nvPr/>
        </p:nvSpPr>
        <p:spPr>
          <a:xfrm>
            <a:off x="7443788" y="3020020"/>
            <a:ext cx="6797397" cy="158591"/>
          </a:xfrm>
          <a:prstGeom prst="rect">
            <a:avLst/>
          </a:prstGeom>
          <a:noFill/>
          <a:ln/>
        </p:spPr>
        <p:txBody>
          <a:bodyPr wrap="none" lIns="0" tIns="0" rIns="0" bIns="0" rtlCol="0" anchor="t"/>
          <a:lstStyle/>
          <a:p>
            <a:pPr algn="ctr" indent="0" marL="0">
              <a:lnSpc>
                <a:spcPts val="1250"/>
              </a:lnSpc>
              <a:buNone/>
            </a:pPr>
            <a:r>
              <a:rPr lang="en-US" sz="750" dirty="0">
                <a:solidFill>
                  <a:srgbClr val="464646"/>
                </a:solidFill>
                <a:latin typeface="Inter Medium" pitchFamily="34" charset="0"/>
                <a:ea typeface="Inter Medium" pitchFamily="34" charset="-122"/>
                <a:cs typeface="Inter Medium" pitchFamily="34" charset="-120"/>
              </a:rPr>
              <a:t>Correct when flagging fraud</a:t>
            </a:r>
            <a:endParaRPr lang="en-US" sz="750" dirty="0"/>
          </a:p>
        </p:txBody>
      </p:sp>
      <p:sp>
        <p:nvSpPr>
          <p:cNvPr id="15" name="Text 12"/>
          <p:cNvSpPr/>
          <p:nvPr/>
        </p:nvSpPr>
        <p:spPr>
          <a:xfrm>
            <a:off x="10232112" y="4021931"/>
            <a:ext cx="1220510" cy="248007"/>
          </a:xfrm>
          <a:prstGeom prst="rect">
            <a:avLst/>
          </a:prstGeom>
          <a:noFill/>
          <a:ln/>
        </p:spPr>
        <p:txBody>
          <a:bodyPr wrap="none" lIns="0" tIns="0" rIns="0" bIns="0" rtlCol="0" anchor="t"/>
          <a:lstStyle/>
          <a:p>
            <a:pPr algn="ctr" indent="0" marL="0">
              <a:lnSpc>
                <a:spcPts val="1950"/>
              </a:lnSpc>
              <a:buNone/>
            </a:pPr>
            <a:r>
              <a:rPr lang="en-US" sz="1950" dirty="0">
                <a:solidFill>
                  <a:srgbClr val="464646"/>
                </a:solidFill>
                <a:latin typeface="DM Sans Semi Bold" pitchFamily="34" charset="0"/>
                <a:ea typeface="DM Sans Semi Bold" pitchFamily="34" charset="-122"/>
                <a:cs typeface="DM Sans Semi Bold" pitchFamily="34" charset="-120"/>
              </a:rPr>
              <a:t>82.43%</a:t>
            </a:r>
            <a:endParaRPr lang="en-US" sz="1950" dirty="0"/>
          </a:p>
        </p:txBody>
      </p:sp>
      <p:pic>
        <p:nvPicPr>
          <p:cNvPr id="16" name="Image 1" descr="preencoded.png">    </p:cNvPr>
          <p:cNvPicPr>
            <a:picLocks noChangeAspect="1"/>
          </p:cNvPicPr>
          <p:nvPr/>
        </p:nvPicPr>
        <p:blipFill>
          <a:blip r:embed="rId2"/>
          <a:stretch>
            <a:fillRect/>
          </a:stretch>
        </p:blipFill>
        <p:spPr>
          <a:xfrm>
            <a:off x="10098167" y="3401735"/>
            <a:ext cx="1488519" cy="1488519"/>
          </a:xfrm>
          <a:prstGeom prst="rect">
            <a:avLst/>
          </a:prstGeom>
        </p:spPr>
      </p:pic>
      <p:sp>
        <p:nvSpPr>
          <p:cNvPr id="17" name="Text 13"/>
          <p:cNvSpPr/>
          <p:nvPr/>
        </p:nvSpPr>
        <p:spPr>
          <a:xfrm>
            <a:off x="10222230" y="5014198"/>
            <a:ext cx="1240393" cy="155019"/>
          </a:xfrm>
          <a:prstGeom prst="rect">
            <a:avLst/>
          </a:prstGeom>
          <a:noFill/>
          <a:ln/>
        </p:spPr>
        <p:txBody>
          <a:bodyPr wrap="none" lIns="0" tIns="0" rIns="0" bIns="0" rtlCol="0" anchor="t"/>
          <a:lstStyle/>
          <a:p>
            <a:pPr algn="ctr" indent="0" marL="0">
              <a:lnSpc>
                <a:spcPts val="1200"/>
              </a:lnSpc>
              <a:buNone/>
            </a:pPr>
            <a:r>
              <a:rPr lang="en-US" sz="950" dirty="0">
                <a:solidFill>
                  <a:srgbClr val="464646"/>
                </a:solidFill>
                <a:latin typeface="DM Sans Semi Bold" pitchFamily="34" charset="0"/>
                <a:ea typeface="DM Sans Semi Bold" pitchFamily="34" charset="-122"/>
                <a:cs typeface="DM Sans Semi Bold" pitchFamily="34" charset="-120"/>
              </a:rPr>
              <a:t>Recall</a:t>
            </a:r>
            <a:endParaRPr lang="en-US" sz="950" dirty="0"/>
          </a:p>
        </p:txBody>
      </p:sp>
      <p:sp>
        <p:nvSpPr>
          <p:cNvPr id="18" name="Text 14"/>
          <p:cNvSpPr/>
          <p:nvPr/>
        </p:nvSpPr>
        <p:spPr>
          <a:xfrm>
            <a:off x="7443788" y="5268397"/>
            <a:ext cx="6797397" cy="158591"/>
          </a:xfrm>
          <a:prstGeom prst="rect">
            <a:avLst/>
          </a:prstGeom>
          <a:noFill/>
          <a:ln/>
        </p:spPr>
        <p:txBody>
          <a:bodyPr wrap="none" lIns="0" tIns="0" rIns="0" bIns="0" rtlCol="0" anchor="t"/>
          <a:lstStyle/>
          <a:p>
            <a:pPr algn="ctr" indent="0" marL="0">
              <a:lnSpc>
                <a:spcPts val="1250"/>
              </a:lnSpc>
              <a:buNone/>
            </a:pPr>
            <a:r>
              <a:rPr lang="en-US" sz="750" dirty="0">
                <a:solidFill>
                  <a:srgbClr val="464646"/>
                </a:solidFill>
                <a:latin typeface="Inter Medium" pitchFamily="34" charset="0"/>
                <a:ea typeface="Inter Medium" pitchFamily="34" charset="-122"/>
                <a:cs typeface="Inter Medium" pitchFamily="34" charset="-120"/>
              </a:rPr>
              <a:t>Frauds successfully caught</a:t>
            </a:r>
            <a:endParaRPr lang="en-US" sz="750" dirty="0"/>
          </a:p>
        </p:txBody>
      </p:sp>
      <p:sp>
        <p:nvSpPr>
          <p:cNvPr id="19" name="Text 15"/>
          <p:cNvSpPr/>
          <p:nvPr/>
        </p:nvSpPr>
        <p:spPr>
          <a:xfrm>
            <a:off x="10232112" y="6270308"/>
            <a:ext cx="1220510" cy="248007"/>
          </a:xfrm>
          <a:prstGeom prst="rect">
            <a:avLst/>
          </a:prstGeom>
          <a:noFill/>
          <a:ln/>
        </p:spPr>
        <p:txBody>
          <a:bodyPr wrap="none" lIns="0" tIns="0" rIns="0" bIns="0" rtlCol="0" anchor="t"/>
          <a:lstStyle/>
          <a:p>
            <a:pPr algn="ctr" indent="0" marL="0">
              <a:lnSpc>
                <a:spcPts val="1950"/>
              </a:lnSpc>
              <a:buNone/>
            </a:pPr>
            <a:r>
              <a:rPr lang="en-US" sz="1950" dirty="0">
                <a:solidFill>
                  <a:srgbClr val="464646"/>
                </a:solidFill>
                <a:latin typeface="DM Sans Semi Bold" pitchFamily="34" charset="0"/>
                <a:ea typeface="DM Sans Semi Bold" pitchFamily="34" charset="-122"/>
                <a:cs typeface="DM Sans Semi Bold" pitchFamily="34" charset="-120"/>
              </a:rPr>
              <a:t>97.79%</a:t>
            </a:r>
            <a:endParaRPr lang="en-US" sz="1950" dirty="0"/>
          </a:p>
        </p:txBody>
      </p:sp>
      <p:pic>
        <p:nvPicPr>
          <p:cNvPr id="20" name="Image 2" descr="preencoded.png">    </p:cNvPr>
          <p:cNvPicPr>
            <a:picLocks noChangeAspect="1"/>
          </p:cNvPicPr>
          <p:nvPr/>
        </p:nvPicPr>
        <p:blipFill>
          <a:blip r:embed="rId3"/>
          <a:stretch>
            <a:fillRect/>
          </a:stretch>
        </p:blipFill>
        <p:spPr>
          <a:xfrm>
            <a:off x="10098167" y="5650111"/>
            <a:ext cx="1488519" cy="1488519"/>
          </a:xfrm>
          <a:prstGeom prst="rect">
            <a:avLst/>
          </a:prstGeom>
        </p:spPr>
      </p:pic>
      <p:sp>
        <p:nvSpPr>
          <p:cNvPr id="21" name="Text 16"/>
          <p:cNvSpPr/>
          <p:nvPr/>
        </p:nvSpPr>
        <p:spPr>
          <a:xfrm>
            <a:off x="10222230" y="7262574"/>
            <a:ext cx="1240393" cy="155019"/>
          </a:xfrm>
          <a:prstGeom prst="rect">
            <a:avLst/>
          </a:prstGeom>
          <a:noFill/>
          <a:ln/>
        </p:spPr>
        <p:txBody>
          <a:bodyPr wrap="none" lIns="0" tIns="0" rIns="0" bIns="0" rtlCol="0" anchor="t"/>
          <a:lstStyle/>
          <a:p>
            <a:pPr algn="ctr" indent="0" marL="0">
              <a:lnSpc>
                <a:spcPts val="1200"/>
              </a:lnSpc>
              <a:buNone/>
            </a:pPr>
            <a:r>
              <a:rPr lang="en-US" sz="950" dirty="0">
                <a:solidFill>
                  <a:srgbClr val="464646"/>
                </a:solidFill>
                <a:latin typeface="DM Sans Semi Bold" pitchFamily="34" charset="0"/>
                <a:ea typeface="DM Sans Semi Bold" pitchFamily="34" charset="-122"/>
                <a:cs typeface="DM Sans Semi Bold" pitchFamily="34" charset="-120"/>
              </a:rPr>
              <a:t>ROC AUC</a:t>
            </a:r>
            <a:endParaRPr lang="en-US" sz="950" dirty="0"/>
          </a:p>
        </p:txBody>
      </p:sp>
      <p:sp>
        <p:nvSpPr>
          <p:cNvPr id="22" name="Text 17"/>
          <p:cNvSpPr/>
          <p:nvPr/>
        </p:nvSpPr>
        <p:spPr>
          <a:xfrm>
            <a:off x="7443788" y="7516773"/>
            <a:ext cx="6797397" cy="158591"/>
          </a:xfrm>
          <a:prstGeom prst="rect">
            <a:avLst/>
          </a:prstGeom>
          <a:noFill/>
          <a:ln/>
        </p:spPr>
        <p:txBody>
          <a:bodyPr wrap="none" lIns="0" tIns="0" rIns="0" bIns="0" rtlCol="0" anchor="t"/>
          <a:lstStyle/>
          <a:p>
            <a:pPr algn="ctr" indent="0" marL="0">
              <a:lnSpc>
                <a:spcPts val="1250"/>
              </a:lnSpc>
              <a:buNone/>
            </a:pPr>
            <a:r>
              <a:rPr lang="en-US" sz="750" dirty="0">
                <a:solidFill>
                  <a:srgbClr val="464646"/>
                </a:solidFill>
                <a:latin typeface="Inter Medium" pitchFamily="34" charset="0"/>
                <a:ea typeface="Inter Medium" pitchFamily="34" charset="-122"/>
                <a:cs typeface="Inter Medium" pitchFamily="34" charset="-120"/>
              </a:rPr>
              <a:t>Near-perfect separation</a:t>
            </a:r>
            <a:endParaRPr lang="en-US" sz="750" dirty="0"/>
          </a:p>
        </p:txBody>
      </p:sp>
      <p:sp>
        <p:nvSpPr>
          <p:cNvPr id="23" name="Text 18"/>
          <p:cNvSpPr/>
          <p:nvPr/>
        </p:nvSpPr>
        <p:spPr>
          <a:xfrm>
            <a:off x="7443788" y="7786926"/>
            <a:ext cx="6797397" cy="317183"/>
          </a:xfrm>
          <a:prstGeom prst="rect">
            <a:avLst/>
          </a:prstGeom>
          <a:noFill/>
          <a:ln/>
        </p:spPr>
        <p:txBody>
          <a:bodyPr wrap="square" lIns="0" tIns="0" rIns="0" bIns="0" rtlCol="0" anchor="t"/>
          <a:lstStyle/>
          <a:p>
            <a:pPr algn="l" indent="0" marL="0">
              <a:lnSpc>
                <a:spcPts val="1250"/>
              </a:lnSpc>
              <a:buNone/>
            </a:pPr>
            <a:r>
              <a:rPr lang="en-US" sz="750" dirty="0">
                <a:solidFill>
                  <a:srgbClr val="464646"/>
                </a:solidFill>
                <a:latin typeface="Inter Medium" pitchFamily="34" charset="0"/>
                <a:ea typeface="Inter Medium" pitchFamily="34" charset="-122"/>
                <a:cs typeface="Inter Medium" pitchFamily="34" charset="-120"/>
              </a:rPr>
              <a:t>The Random Forest achieved the </a:t>
            </a:r>
            <a:pPr algn="l" indent="0" marL="0">
              <a:lnSpc>
                <a:spcPts val="1250"/>
              </a:lnSpc>
              <a:buNone/>
            </a:pPr>
            <a:r>
              <a:rPr lang="en-US" sz="750" dirty="0">
                <a:solidFill>
                  <a:srgbClr val="1C9770"/>
                </a:solidFill>
                <a:latin typeface="Inter Medium" pitchFamily="34" charset="0"/>
                <a:ea typeface="Inter Medium" pitchFamily="34" charset="-122"/>
                <a:cs typeface="Inter Medium" pitchFamily="34" charset="-120"/>
              </a:rPr>
              <a:t>highest ROC AUC</a:t>
            </a:r>
            <a:pPr algn="l" indent="0" marL="0">
              <a:lnSpc>
                <a:spcPts val="1250"/>
              </a:lnSpc>
              <a:buNone/>
            </a:pPr>
            <a:r>
              <a:rPr lang="en-US" sz="750" dirty="0">
                <a:solidFill>
                  <a:srgbClr val="464646"/>
                </a:solidFill>
                <a:latin typeface="Inter Medium" pitchFamily="34" charset="0"/>
                <a:ea typeface="Inter Medium" pitchFamily="34" charset="-122"/>
                <a:cs typeface="Inter Medium" pitchFamily="34" charset="-120"/>
              </a:rPr>
              <a:t> of all three methodologies at 97.79%, indicating robust performance across all threshold settings.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23317"/>
            <a:ext cx="70238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KDD: Unsupervised Discovery</a:t>
            </a:r>
            <a:endParaRPr lang="en-US" sz="3900" dirty="0"/>
          </a:p>
        </p:txBody>
      </p:sp>
      <p:sp>
        <p:nvSpPr>
          <p:cNvPr id="3" name="Text 1"/>
          <p:cNvSpPr/>
          <p:nvPr/>
        </p:nvSpPr>
        <p:spPr>
          <a:xfrm>
            <a:off x="793790" y="1840230"/>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The Knowledge Discovery in Databases (KDD) process represents one of the earliest formalized data mining methodologies. Unlike supervised approaches, KDD's implementation used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Isolation Forest</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for unsupervised anomaly detection—learning "normal" behavior without fraud labels during training.</a:t>
            </a:r>
            <a:endParaRPr lang="en-US" sz="1550" dirty="0"/>
          </a:p>
        </p:txBody>
      </p:sp>
      <p:sp>
        <p:nvSpPr>
          <p:cNvPr id="4" name="Shape 2"/>
          <p:cNvSpPr/>
          <p:nvPr/>
        </p:nvSpPr>
        <p:spPr>
          <a:xfrm>
            <a:off x="793790" y="3016091"/>
            <a:ext cx="4215289" cy="2254687"/>
          </a:xfrm>
          <a:prstGeom prst="roundRect">
            <a:avLst>
              <a:gd name="adj" fmla="val 1320"/>
            </a:avLst>
          </a:prstGeom>
          <a:solidFill>
            <a:srgbClr val="F2EEEE"/>
          </a:solidFill>
          <a:ln/>
        </p:spPr>
      </p:sp>
      <p:sp>
        <p:nvSpPr>
          <p:cNvPr id="5" name="Shape 3"/>
          <p:cNvSpPr/>
          <p:nvPr/>
        </p:nvSpPr>
        <p:spPr>
          <a:xfrm>
            <a:off x="992148" y="3214449"/>
            <a:ext cx="595313" cy="595313"/>
          </a:xfrm>
          <a:prstGeom prst="roundRect">
            <a:avLst>
              <a:gd name="adj" fmla="val 15358451"/>
            </a:avLst>
          </a:prstGeom>
          <a:solidFill>
            <a:srgbClr val="1C9770"/>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55859" y="3378041"/>
            <a:ext cx="267891" cy="267891"/>
          </a:xfrm>
          <a:prstGeom prst="rect">
            <a:avLst/>
          </a:prstGeom>
        </p:spPr>
      </p:pic>
      <p:sp>
        <p:nvSpPr>
          <p:cNvPr id="7" name="Text 4"/>
          <p:cNvSpPr/>
          <p:nvPr/>
        </p:nvSpPr>
        <p:spPr>
          <a:xfrm>
            <a:off x="992148" y="400812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Selection</a:t>
            </a:r>
            <a:endParaRPr lang="en-US" sz="1950" dirty="0"/>
          </a:p>
        </p:txBody>
      </p:sp>
      <p:sp>
        <p:nvSpPr>
          <p:cNvPr id="8" name="Text 5"/>
          <p:cNvSpPr/>
          <p:nvPr/>
        </p:nvSpPr>
        <p:spPr>
          <a:xfrm>
            <a:off x="992148" y="4437340"/>
            <a:ext cx="3818573"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All 284,807 transactions used to learn broadest definition of "normal"</a:t>
            </a:r>
            <a:endParaRPr lang="en-US" sz="1550" dirty="0"/>
          </a:p>
        </p:txBody>
      </p:sp>
      <p:sp>
        <p:nvSpPr>
          <p:cNvPr id="9" name="Shape 6"/>
          <p:cNvSpPr/>
          <p:nvPr/>
        </p:nvSpPr>
        <p:spPr>
          <a:xfrm>
            <a:off x="5207437" y="3016091"/>
            <a:ext cx="4215408" cy="2254687"/>
          </a:xfrm>
          <a:prstGeom prst="roundRect">
            <a:avLst>
              <a:gd name="adj" fmla="val 1320"/>
            </a:avLst>
          </a:prstGeom>
          <a:solidFill>
            <a:srgbClr val="F2EEEE"/>
          </a:solidFill>
          <a:ln/>
        </p:spPr>
      </p:sp>
      <p:sp>
        <p:nvSpPr>
          <p:cNvPr id="10" name="Shape 7"/>
          <p:cNvSpPr/>
          <p:nvPr/>
        </p:nvSpPr>
        <p:spPr>
          <a:xfrm>
            <a:off x="5405795" y="3214449"/>
            <a:ext cx="595313" cy="595313"/>
          </a:xfrm>
          <a:prstGeom prst="roundRect">
            <a:avLst>
              <a:gd name="adj" fmla="val 15358451"/>
            </a:avLst>
          </a:prstGeom>
          <a:solidFill>
            <a:srgbClr val="1C9770"/>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9506" y="3378041"/>
            <a:ext cx="267891" cy="267891"/>
          </a:xfrm>
          <a:prstGeom prst="rect">
            <a:avLst/>
          </a:prstGeom>
        </p:spPr>
      </p:pic>
      <p:sp>
        <p:nvSpPr>
          <p:cNvPr id="12" name="Text 8"/>
          <p:cNvSpPr/>
          <p:nvPr/>
        </p:nvSpPr>
        <p:spPr>
          <a:xfrm>
            <a:off x="5405795" y="400812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Preprocessing</a:t>
            </a:r>
            <a:endParaRPr lang="en-US" sz="1950" dirty="0"/>
          </a:p>
        </p:txBody>
      </p:sp>
      <p:sp>
        <p:nvSpPr>
          <p:cNvPr id="13" name="Text 9"/>
          <p:cNvSpPr/>
          <p:nvPr/>
        </p:nvSpPr>
        <p:spPr>
          <a:xfrm>
            <a:off x="5405795" y="4437340"/>
            <a:ext cx="3818692"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Z-score normalization, intentionally dropped Class labels</a:t>
            </a:r>
            <a:endParaRPr lang="en-US" sz="1550" dirty="0"/>
          </a:p>
        </p:txBody>
      </p:sp>
      <p:sp>
        <p:nvSpPr>
          <p:cNvPr id="14" name="Shape 10"/>
          <p:cNvSpPr/>
          <p:nvPr/>
        </p:nvSpPr>
        <p:spPr>
          <a:xfrm>
            <a:off x="9621203" y="3016091"/>
            <a:ext cx="4215289" cy="2254687"/>
          </a:xfrm>
          <a:prstGeom prst="roundRect">
            <a:avLst>
              <a:gd name="adj" fmla="val 1320"/>
            </a:avLst>
          </a:prstGeom>
          <a:solidFill>
            <a:srgbClr val="F2EEEE"/>
          </a:solidFill>
          <a:ln/>
        </p:spPr>
      </p:sp>
      <p:sp>
        <p:nvSpPr>
          <p:cNvPr id="15" name="Shape 11"/>
          <p:cNvSpPr/>
          <p:nvPr/>
        </p:nvSpPr>
        <p:spPr>
          <a:xfrm>
            <a:off x="9819561" y="3214449"/>
            <a:ext cx="595313" cy="595313"/>
          </a:xfrm>
          <a:prstGeom prst="roundRect">
            <a:avLst>
              <a:gd name="adj" fmla="val 15358451"/>
            </a:avLst>
          </a:prstGeom>
          <a:solidFill>
            <a:srgbClr val="1C9770"/>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83272" y="3378041"/>
            <a:ext cx="267891" cy="267891"/>
          </a:xfrm>
          <a:prstGeom prst="rect">
            <a:avLst/>
          </a:prstGeom>
        </p:spPr>
      </p:pic>
      <p:sp>
        <p:nvSpPr>
          <p:cNvPr id="17" name="Text 12"/>
          <p:cNvSpPr/>
          <p:nvPr/>
        </p:nvSpPr>
        <p:spPr>
          <a:xfrm>
            <a:off x="9819561" y="400812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Transformation</a:t>
            </a:r>
            <a:endParaRPr lang="en-US" sz="1950" dirty="0"/>
          </a:p>
        </p:txBody>
      </p:sp>
      <p:sp>
        <p:nvSpPr>
          <p:cNvPr id="18" name="Text 13"/>
          <p:cNvSpPr/>
          <p:nvPr/>
        </p:nvSpPr>
        <p:spPr>
          <a:xfrm>
            <a:off x="9819561" y="4437340"/>
            <a:ext cx="3818573"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Standardized features for equal weighting across V1-V28</a:t>
            </a:r>
            <a:endParaRPr lang="en-US" sz="1550" dirty="0"/>
          </a:p>
        </p:txBody>
      </p:sp>
      <p:sp>
        <p:nvSpPr>
          <p:cNvPr id="19" name="Shape 14"/>
          <p:cNvSpPr/>
          <p:nvPr/>
        </p:nvSpPr>
        <p:spPr>
          <a:xfrm>
            <a:off x="793790" y="5469136"/>
            <a:ext cx="6422112" cy="1937147"/>
          </a:xfrm>
          <a:prstGeom prst="roundRect">
            <a:avLst>
              <a:gd name="adj" fmla="val 1537"/>
            </a:avLst>
          </a:prstGeom>
          <a:solidFill>
            <a:srgbClr val="F2EEEE"/>
          </a:solidFill>
          <a:ln/>
        </p:spPr>
      </p:sp>
      <p:sp>
        <p:nvSpPr>
          <p:cNvPr id="20" name="Shape 15"/>
          <p:cNvSpPr/>
          <p:nvPr/>
        </p:nvSpPr>
        <p:spPr>
          <a:xfrm>
            <a:off x="992148" y="5667494"/>
            <a:ext cx="595313" cy="595313"/>
          </a:xfrm>
          <a:prstGeom prst="roundRect">
            <a:avLst>
              <a:gd name="adj" fmla="val 15358451"/>
            </a:avLst>
          </a:prstGeom>
          <a:solidFill>
            <a:srgbClr val="1C9770"/>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5859" y="5831086"/>
            <a:ext cx="267891" cy="267891"/>
          </a:xfrm>
          <a:prstGeom prst="rect">
            <a:avLst/>
          </a:prstGeom>
        </p:spPr>
      </p:pic>
      <p:sp>
        <p:nvSpPr>
          <p:cNvPr id="22" name="Text 16"/>
          <p:cNvSpPr/>
          <p:nvPr/>
        </p:nvSpPr>
        <p:spPr>
          <a:xfrm>
            <a:off x="992148" y="646116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Data Mining</a:t>
            </a:r>
            <a:endParaRPr lang="en-US" sz="1950" dirty="0"/>
          </a:p>
        </p:txBody>
      </p:sp>
      <p:sp>
        <p:nvSpPr>
          <p:cNvPr id="23" name="Text 17"/>
          <p:cNvSpPr/>
          <p:nvPr/>
        </p:nvSpPr>
        <p:spPr>
          <a:xfrm>
            <a:off x="992148" y="6890385"/>
            <a:ext cx="6025396"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Isolation Forest with 100 trees, 0.1% contamination parameter</a:t>
            </a:r>
            <a:endParaRPr lang="en-US" sz="1550" dirty="0"/>
          </a:p>
        </p:txBody>
      </p:sp>
      <p:sp>
        <p:nvSpPr>
          <p:cNvPr id="24" name="Shape 18"/>
          <p:cNvSpPr/>
          <p:nvPr/>
        </p:nvSpPr>
        <p:spPr>
          <a:xfrm>
            <a:off x="7414260" y="5469136"/>
            <a:ext cx="6422231" cy="1937147"/>
          </a:xfrm>
          <a:prstGeom prst="roundRect">
            <a:avLst>
              <a:gd name="adj" fmla="val 1537"/>
            </a:avLst>
          </a:prstGeom>
          <a:solidFill>
            <a:srgbClr val="F2EEEE"/>
          </a:solidFill>
          <a:ln/>
        </p:spPr>
      </p:sp>
      <p:sp>
        <p:nvSpPr>
          <p:cNvPr id="25" name="Shape 19"/>
          <p:cNvSpPr/>
          <p:nvPr/>
        </p:nvSpPr>
        <p:spPr>
          <a:xfrm>
            <a:off x="7612618" y="5667494"/>
            <a:ext cx="595313" cy="595313"/>
          </a:xfrm>
          <a:prstGeom prst="roundRect">
            <a:avLst>
              <a:gd name="adj" fmla="val 15358451"/>
            </a:avLst>
          </a:prstGeom>
          <a:solidFill>
            <a:srgbClr val="1C9770"/>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76329" y="5831086"/>
            <a:ext cx="267891" cy="267891"/>
          </a:xfrm>
          <a:prstGeom prst="rect">
            <a:avLst/>
          </a:prstGeom>
        </p:spPr>
      </p:pic>
      <p:sp>
        <p:nvSpPr>
          <p:cNvPr id="27" name="Text 20"/>
          <p:cNvSpPr/>
          <p:nvPr/>
        </p:nvSpPr>
        <p:spPr>
          <a:xfrm>
            <a:off x="7612618" y="646116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Interpretation</a:t>
            </a:r>
            <a:endParaRPr lang="en-US" sz="1950" dirty="0"/>
          </a:p>
        </p:txBody>
      </p:sp>
      <p:sp>
        <p:nvSpPr>
          <p:cNvPr id="28" name="Text 21"/>
          <p:cNvSpPr/>
          <p:nvPr/>
        </p:nvSpPr>
        <p:spPr>
          <a:xfrm>
            <a:off x="7612618" y="6890385"/>
            <a:ext cx="6025515"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Evaluated anomalies against true fraud labels post-training</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4613" y="491252"/>
            <a:ext cx="9042440" cy="558165"/>
          </a:xfrm>
          <a:prstGeom prst="rect">
            <a:avLst/>
          </a:prstGeom>
          <a:noFill/>
          <a:ln/>
        </p:spPr>
        <p:txBody>
          <a:bodyPr wrap="none" lIns="0" tIns="0" rIns="0" bIns="0" rtlCol="0" anchor="t"/>
          <a:lstStyle/>
          <a:p>
            <a:pPr algn="l" indent="0" marL="0">
              <a:lnSpc>
                <a:spcPts val="4350"/>
              </a:lnSpc>
              <a:buNone/>
            </a:pPr>
            <a:r>
              <a:rPr lang="en-US" sz="3500" dirty="0">
                <a:solidFill>
                  <a:srgbClr val="030303"/>
                </a:solidFill>
                <a:latin typeface="DM Sans Semi Bold" pitchFamily="34" charset="0"/>
                <a:ea typeface="DM Sans Semi Bold" pitchFamily="34" charset="-122"/>
                <a:cs typeface="DM Sans Semi Bold" pitchFamily="34" charset="-120"/>
              </a:rPr>
              <a:t>Final Insights: Choosing Your Methodology</a:t>
            </a:r>
            <a:endParaRPr lang="en-US" sz="3500" dirty="0"/>
          </a:p>
        </p:txBody>
      </p:sp>
      <p:sp>
        <p:nvSpPr>
          <p:cNvPr id="3" name="Text 1"/>
          <p:cNvSpPr/>
          <p:nvPr/>
        </p:nvSpPr>
        <p:spPr>
          <a:xfrm>
            <a:off x="714613" y="1406723"/>
            <a:ext cx="13201174" cy="571738"/>
          </a:xfrm>
          <a:prstGeom prst="rect">
            <a:avLst/>
          </a:prstGeom>
          <a:noFill/>
          <a:ln/>
        </p:spPr>
        <p:txBody>
          <a:bodyPr wrap="squar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Each methodology excels in its intended context. The dramatic performance differences—96% vs 29% precision—demonstrate that </a:t>
            </a:r>
            <a:pPr algn="l" indent="0" marL="0">
              <a:lnSpc>
                <a:spcPts val="2250"/>
              </a:lnSpc>
              <a:buNone/>
            </a:pPr>
            <a:r>
              <a:rPr lang="en-US" sz="1400" b="1" dirty="0">
                <a:solidFill>
                  <a:srgbClr val="464646"/>
                </a:solidFill>
                <a:latin typeface="Inter Medium" pitchFamily="34" charset="0"/>
                <a:ea typeface="Inter Medium" pitchFamily="34" charset="-122"/>
                <a:cs typeface="Inter Medium" pitchFamily="34" charset="-120"/>
              </a:rPr>
              <a:t>methodology choice fundamentally shapes outcomes</a:t>
            </a:r>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a:t>
            </a:r>
            <a:endParaRPr lang="en-US" sz="1400" dirty="0"/>
          </a:p>
        </p:txBody>
      </p:sp>
      <p:sp>
        <p:nvSpPr>
          <p:cNvPr id="4" name="Shape 2"/>
          <p:cNvSpPr/>
          <p:nvPr/>
        </p:nvSpPr>
        <p:spPr>
          <a:xfrm>
            <a:off x="714613" y="2179439"/>
            <a:ext cx="4281249" cy="2942034"/>
          </a:xfrm>
          <a:prstGeom prst="roundRect">
            <a:avLst>
              <a:gd name="adj" fmla="val 911"/>
            </a:avLst>
          </a:prstGeom>
          <a:solidFill>
            <a:srgbClr val="FFFFFF"/>
          </a:solidFill>
          <a:ln w="22860">
            <a:solidFill>
              <a:srgbClr val="D8D4D4"/>
            </a:solidFill>
            <a:prstDash val="solid"/>
          </a:ln>
        </p:spPr>
      </p:sp>
      <p:sp>
        <p:nvSpPr>
          <p:cNvPr id="5" name="Shape 3"/>
          <p:cNvSpPr/>
          <p:nvPr/>
        </p:nvSpPr>
        <p:spPr>
          <a:xfrm>
            <a:off x="737473" y="2202299"/>
            <a:ext cx="4235529" cy="535900"/>
          </a:xfrm>
          <a:prstGeom prst="rect">
            <a:avLst/>
          </a:prstGeom>
          <a:solidFill>
            <a:srgbClr val="F2EEEE"/>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21293" y="2336244"/>
            <a:ext cx="267891" cy="267891"/>
          </a:xfrm>
          <a:prstGeom prst="rect">
            <a:avLst/>
          </a:prstGeom>
        </p:spPr>
      </p:pic>
      <p:sp>
        <p:nvSpPr>
          <p:cNvPr id="7" name="Text 4"/>
          <p:cNvSpPr/>
          <p:nvPr/>
        </p:nvSpPr>
        <p:spPr>
          <a:xfrm>
            <a:off x="916067" y="2916793"/>
            <a:ext cx="2240518" cy="279202"/>
          </a:xfrm>
          <a:prstGeom prst="rect">
            <a:avLst/>
          </a:prstGeom>
          <a:noFill/>
          <a:ln/>
        </p:spPr>
        <p:txBody>
          <a:bodyPr wrap="none" lIns="0" tIns="0" rIns="0" bIns="0" rtlCol="0" anchor="t"/>
          <a:lstStyle/>
          <a:p>
            <a:pPr algn="l" indent="0" marL="0">
              <a:lnSpc>
                <a:spcPts val="2150"/>
              </a:lnSpc>
              <a:buNone/>
            </a:pPr>
            <a:r>
              <a:rPr lang="en-US" sz="1750" dirty="0">
                <a:solidFill>
                  <a:srgbClr val="464646"/>
                </a:solidFill>
                <a:latin typeface="DM Sans Semi Bold" pitchFamily="34" charset="0"/>
                <a:ea typeface="DM Sans Semi Bold" pitchFamily="34" charset="-122"/>
                <a:cs typeface="DM Sans Semi Bold" pitchFamily="34" charset="-120"/>
              </a:rPr>
              <a:t>Use CRISP-DM When</a:t>
            </a:r>
            <a:endParaRPr lang="en-US" sz="1750" dirty="0"/>
          </a:p>
        </p:txBody>
      </p:sp>
      <p:sp>
        <p:nvSpPr>
          <p:cNvPr id="8" name="Text 5"/>
          <p:cNvSpPr/>
          <p:nvPr/>
        </p:nvSpPr>
        <p:spPr>
          <a:xfrm>
            <a:off x="916067" y="3303151"/>
            <a:ext cx="3878342"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Production deployment is the goal</a:t>
            </a:r>
            <a:endParaRPr lang="en-US" sz="1400" dirty="0"/>
          </a:p>
        </p:txBody>
      </p:sp>
      <p:sp>
        <p:nvSpPr>
          <p:cNvPr id="9" name="Text 6"/>
          <p:cNvSpPr/>
          <p:nvPr/>
        </p:nvSpPr>
        <p:spPr>
          <a:xfrm>
            <a:off x="916067" y="3651528"/>
            <a:ext cx="3878342"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Business alignment is critical</a:t>
            </a:r>
            <a:endParaRPr lang="en-US" sz="1400" dirty="0"/>
          </a:p>
        </p:txBody>
      </p:sp>
      <p:sp>
        <p:nvSpPr>
          <p:cNvPr id="10" name="Text 7"/>
          <p:cNvSpPr/>
          <p:nvPr/>
        </p:nvSpPr>
        <p:spPr>
          <a:xfrm>
            <a:off x="916067" y="3999905"/>
            <a:ext cx="3878342"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Comprehensive documentation needed</a:t>
            </a:r>
            <a:endParaRPr lang="en-US" sz="1400" dirty="0"/>
          </a:p>
        </p:txBody>
      </p:sp>
      <p:sp>
        <p:nvSpPr>
          <p:cNvPr id="11" name="Text 8"/>
          <p:cNvSpPr/>
          <p:nvPr/>
        </p:nvSpPr>
        <p:spPr>
          <a:xfrm>
            <a:off x="916067" y="4348282"/>
            <a:ext cx="3878342"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Labels are available</a:t>
            </a:r>
            <a:endParaRPr lang="en-US" sz="1400" dirty="0"/>
          </a:p>
        </p:txBody>
      </p:sp>
      <p:sp>
        <p:nvSpPr>
          <p:cNvPr id="12" name="Shape 9"/>
          <p:cNvSpPr/>
          <p:nvPr/>
        </p:nvSpPr>
        <p:spPr>
          <a:xfrm>
            <a:off x="5174456" y="2179439"/>
            <a:ext cx="4281368" cy="2942034"/>
          </a:xfrm>
          <a:prstGeom prst="roundRect">
            <a:avLst>
              <a:gd name="adj" fmla="val 911"/>
            </a:avLst>
          </a:prstGeom>
          <a:solidFill>
            <a:srgbClr val="FFFFFF"/>
          </a:solidFill>
          <a:ln w="22860">
            <a:solidFill>
              <a:srgbClr val="D8D4D4"/>
            </a:solidFill>
            <a:prstDash val="solid"/>
          </a:ln>
        </p:spPr>
      </p:sp>
      <p:sp>
        <p:nvSpPr>
          <p:cNvPr id="13" name="Shape 10"/>
          <p:cNvSpPr/>
          <p:nvPr/>
        </p:nvSpPr>
        <p:spPr>
          <a:xfrm>
            <a:off x="5197316" y="2202299"/>
            <a:ext cx="4235648" cy="535900"/>
          </a:xfrm>
          <a:prstGeom prst="rect">
            <a:avLst/>
          </a:prstGeom>
          <a:solidFill>
            <a:srgbClr val="F2EEEE"/>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81136" y="2336244"/>
            <a:ext cx="267891" cy="267891"/>
          </a:xfrm>
          <a:prstGeom prst="rect">
            <a:avLst/>
          </a:prstGeom>
        </p:spPr>
      </p:pic>
      <p:sp>
        <p:nvSpPr>
          <p:cNvPr id="15" name="Text 11"/>
          <p:cNvSpPr/>
          <p:nvPr/>
        </p:nvSpPr>
        <p:spPr>
          <a:xfrm>
            <a:off x="5375910" y="2916793"/>
            <a:ext cx="2233255" cy="279202"/>
          </a:xfrm>
          <a:prstGeom prst="rect">
            <a:avLst/>
          </a:prstGeom>
          <a:noFill/>
          <a:ln/>
        </p:spPr>
        <p:txBody>
          <a:bodyPr wrap="none" lIns="0" tIns="0" rIns="0" bIns="0" rtlCol="0" anchor="t"/>
          <a:lstStyle/>
          <a:p>
            <a:pPr algn="l" indent="0" marL="0">
              <a:lnSpc>
                <a:spcPts val="2150"/>
              </a:lnSpc>
              <a:buNone/>
            </a:pPr>
            <a:r>
              <a:rPr lang="en-US" sz="1750" dirty="0">
                <a:solidFill>
                  <a:srgbClr val="464646"/>
                </a:solidFill>
                <a:latin typeface="DM Sans Semi Bold" pitchFamily="34" charset="0"/>
                <a:ea typeface="DM Sans Semi Bold" pitchFamily="34" charset="-122"/>
                <a:cs typeface="DM Sans Semi Bold" pitchFamily="34" charset="-120"/>
              </a:rPr>
              <a:t>Use SEMMA When</a:t>
            </a:r>
            <a:endParaRPr lang="en-US" sz="1750" dirty="0"/>
          </a:p>
        </p:txBody>
      </p:sp>
      <p:sp>
        <p:nvSpPr>
          <p:cNvPr id="16" name="Text 12"/>
          <p:cNvSpPr/>
          <p:nvPr/>
        </p:nvSpPr>
        <p:spPr>
          <a:xfrm>
            <a:off x="5375910" y="3303151"/>
            <a:ext cx="3878461"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Rapid prototyping is priority</a:t>
            </a:r>
            <a:endParaRPr lang="en-US" sz="1400" dirty="0"/>
          </a:p>
        </p:txBody>
      </p:sp>
      <p:sp>
        <p:nvSpPr>
          <p:cNvPr id="17" name="Text 13"/>
          <p:cNvSpPr/>
          <p:nvPr/>
        </p:nvSpPr>
        <p:spPr>
          <a:xfrm>
            <a:off x="5375910" y="3651528"/>
            <a:ext cx="3878461"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Technical experimentation drives value</a:t>
            </a:r>
            <a:endParaRPr lang="en-US" sz="1400" dirty="0"/>
          </a:p>
        </p:txBody>
      </p:sp>
      <p:sp>
        <p:nvSpPr>
          <p:cNvPr id="18" name="Text 14"/>
          <p:cNvSpPr/>
          <p:nvPr/>
        </p:nvSpPr>
        <p:spPr>
          <a:xfrm>
            <a:off x="5375910" y="3999905"/>
            <a:ext cx="3878461"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Iterative refinement is planned</a:t>
            </a:r>
            <a:endParaRPr lang="en-US" sz="1400" dirty="0"/>
          </a:p>
        </p:txBody>
      </p:sp>
      <p:sp>
        <p:nvSpPr>
          <p:cNvPr id="19" name="Text 15"/>
          <p:cNvSpPr/>
          <p:nvPr/>
        </p:nvSpPr>
        <p:spPr>
          <a:xfrm>
            <a:off x="5375910" y="4348282"/>
            <a:ext cx="3878461" cy="571738"/>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Speed matters more than comprehensiveness</a:t>
            </a:r>
            <a:endParaRPr lang="en-US" sz="1400" dirty="0"/>
          </a:p>
        </p:txBody>
      </p:sp>
      <p:sp>
        <p:nvSpPr>
          <p:cNvPr id="20" name="Shape 16"/>
          <p:cNvSpPr/>
          <p:nvPr/>
        </p:nvSpPr>
        <p:spPr>
          <a:xfrm>
            <a:off x="9634418" y="2179439"/>
            <a:ext cx="4281368" cy="2942034"/>
          </a:xfrm>
          <a:prstGeom prst="roundRect">
            <a:avLst>
              <a:gd name="adj" fmla="val 911"/>
            </a:avLst>
          </a:prstGeom>
          <a:solidFill>
            <a:srgbClr val="FFFFFF"/>
          </a:solidFill>
          <a:ln w="22860">
            <a:solidFill>
              <a:srgbClr val="D8D4D4"/>
            </a:solidFill>
            <a:prstDash val="solid"/>
          </a:ln>
        </p:spPr>
      </p:sp>
      <p:sp>
        <p:nvSpPr>
          <p:cNvPr id="21" name="Shape 17"/>
          <p:cNvSpPr/>
          <p:nvPr/>
        </p:nvSpPr>
        <p:spPr>
          <a:xfrm>
            <a:off x="9657278" y="2202299"/>
            <a:ext cx="4235648" cy="535900"/>
          </a:xfrm>
          <a:prstGeom prst="rect">
            <a:avLst/>
          </a:prstGeom>
          <a:solidFill>
            <a:srgbClr val="F2EEEE"/>
          </a:solidFill>
          <a:ln/>
        </p:spPr>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41098" y="2336244"/>
            <a:ext cx="267891" cy="267891"/>
          </a:xfrm>
          <a:prstGeom prst="rect">
            <a:avLst/>
          </a:prstGeom>
        </p:spPr>
      </p:pic>
      <p:sp>
        <p:nvSpPr>
          <p:cNvPr id="23" name="Text 18"/>
          <p:cNvSpPr/>
          <p:nvPr/>
        </p:nvSpPr>
        <p:spPr>
          <a:xfrm>
            <a:off x="9835872" y="2916793"/>
            <a:ext cx="2233255" cy="279202"/>
          </a:xfrm>
          <a:prstGeom prst="rect">
            <a:avLst/>
          </a:prstGeom>
          <a:noFill/>
          <a:ln/>
        </p:spPr>
        <p:txBody>
          <a:bodyPr wrap="none" lIns="0" tIns="0" rIns="0" bIns="0" rtlCol="0" anchor="t"/>
          <a:lstStyle/>
          <a:p>
            <a:pPr algn="l" indent="0" marL="0">
              <a:lnSpc>
                <a:spcPts val="2150"/>
              </a:lnSpc>
              <a:buNone/>
            </a:pPr>
            <a:r>
              <a:rPr lang="en-US" sz="1750" dirty="0">
                <a:solidFill>
                  <a:srgbClr val="464646"/>
                </a:solidFill>
                <a:latin typeface="DM Sans Semi Bold" pitchFamily="34" charset="0"/>
                <a:ea typeface="DM Sans Semi Bold" pitchFamily="34" charset="-122"/>
                <a:cs typeface="DM Sans Semi Bold" pitchFamily="34" charset="-120"/>
              </a:rPr>
              <a:t>Use KDD When</a:t>
            </a:r>
            <a:endParaRPr lang="en-US" sz="1750" dirty="0"/>
          </a:p>
        </p:txBody>
      </p:sp>
      <p:sp>
        <p:nvSpPr>
          <p:cNvPr id="24" name="Text 19"/>
          <p:cNvSpPr/>
          <p:nvPr/>
        </p:nvSpPr>
        <p:spPr>
          <a:xfrm>
            <a:off x="9835872" y="3303151"/>
            <a:ext cx="3878461"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Labels are unavailable or unreliable</a:t>
            </a:r>
            <a:endParaRPr lang="en-US" sz="1400" dirty="0"/>
          </a:p>
        </p:txBody>
      </p:sp>
      <p:sp>
        <p:nvSpPr>
          <p:cNvPr id="25" name="Text 20"/>
          <p:cNvSpPr/>
          <p:nvPr/>
        </p:nvSpPr>
        <p:spPr>
          <a:xfrm>
            <a:off x="9835872" y="3651528"/>
            <a:ext cx="3878461"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Exploring new fraud patterns</a:t>
            </a:r>
            <a:endParaRPr lang="en-US" sz="1400" dirty="0"/>
          </a:p>
        </p:txBody>
      </p:sp>
      <p:sp>
        <p:nvSpPr>
          <p:cNvPr id="26" name="Text 21"/>
          <p:cNvSpPr/>
          <p:nvPr/>
        </p:nvSpPr>
        <p:spPr>
          <a:xfrm>
            <a:off x="9835872" y="3999905"/>
            <a:ext cx="3878461"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Research and hypothesis generation</a:t>
            </a:r>
            <a:endParaRPr lang="en-US" sz="1400" dirty="0"/>
          </a:p>
        </p:txBody>
      </p:sp>
      <p:sp>
        <p:nvSpPr>
          <p:cNvPr id="27" name="Text 22"/>
          <p:cNvSpPr/>
          <p:nvPr/>
        </p:nvSpPr>
        <p:spPr>
          <a:xfrm>
            <a:off x="9835872" y="4348282"/>
            <a:ext cx="3878461" cy="285869"/>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464646"/>
                </a:solidFill>
                <a:latin typeface="Inter Medium" pitchFamily="34" charset="0"/>
                <a:ea typeface="Inter Medium" pitchFamily="34" charset="-122"/>
                <a:cs typeface="Inter Medium" pitchFamily="34" charset="-120"/>
              </a:rPr>
              <a:t>Discovering the undiscovered</a:t>
            </a:r>
            <a:endParaRPr lang="en-US" sz="1400" dirty="0"/>
          </a:p>
        </p:txBody>
      </p:sp>
      <p:sp>
        <p:nvSpPr>
          <p:cNvPr id="28" name="Shape 23"/>
          <p:cNvSpPr/>
          <p:nvPr/>
        </p:nvSpPr>
        <p:spPr>
          <a:xfrm>
            <a:off x="714613" y="5411765"/>
            <a:ext cx="13201174" cy="29885"/>
          </a:xfrm>
          <a:prstGeom prst="rect">
            <a:avLst/>
          </a:prstGeom>
          <a:solidFill>
            <a:srgbClr val="464646">
              <a:alpha val="50000"/>
            </a:srgbClr>
          </a:solidFill>
          <a:ln/>
        </p:spPr>
      </p:sp>
      <p:sp>
        <p:nvSpPr>
          <p:cNvPr id="29" name="Text 24"/>
          <p:cNvSpPr/>
          <p:nvPr/>
        </p:nvSpPr>
        <p:spPr>
          <a:xfrm>
            <a:off x="714613" y="5821204"/>
            <a:ext cx="2233255" cy="279202"/>
          </a:xfrm>
          <a:prstGeom prst="rect">
            <a:avLst/>
          </a:prstGeom>
          <a:noFill/>
          <a:ln/>
        </p:spPr>
        <p:txBody>
          <a:bodyPr wrap="none" lIns="0" tIns="0" rIns="0" bIns="0" rtlCol="0" anchor="t"/>
          <a:lstStyle/>
          <a:p>
            <a:pPr algn="l" indent="0" marL="0">
              <a:lnSpc>
                <a:spcPts val="2150"/>
              </a:lnSpc>
              <a:buNone/>
            </a:pPr>
            <a:r>
              <a:rPr lang="en-US" sz="1750" dirty="0">
                <a:solidFill>
                  <a:srgbClr val="030303"/>
                </a:solidFill>
                <a:latin typeface="DM Sans Semi Bold" pitchFamily="34" charset="0"/>
                <a:ea typeface="DM Sans Semi Bold" pitchFamily="34" charset="-122"/>
                <a:cs typeface="DM Sans Semi Bold" pitchFamily="34" charset="-120"/>
              </a:rPr>
              <a:t>Key Takeaway</a:t>
            </a:r>
            <a:endParaRPr lang="en-US" sz="1750" dirty="0"/>
          </a:p>
        </p:txBody>
      </p:sp>
      <p:sp>
        <p:nvSpPr>
          <p:cNvPr id="30" name="Text 25"/>
          <p:cNvSpPr/>
          <p:nvPr/>
        </p:nvSpPr>
        <p:spPr>
          <a:xfrm>
            <a:off x="714613" y="6278999"/>
            <a:ext cx="6382703" cy="1143476"/>
          </a:xfrm>
          <a:prstGeom prst="rect">
            <a:avLst/>
          </a:prstGeom>
          <a:noFill/>
          <a:ln/>
        </p:spPr>
        <p:txBody>
          <a:bodyPr wrap="squar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Supervised methods dominate when labels exist, achieving ~$11,500 in prevented losses on test data alone. However, unsupervised approaches excel at discovering novel fraud patterns that supervised models would miss entirely.</a:t>
            </a:r>
            <a:endParaRPr lang="en-US" sz="1400" dirty="0"/>
          </a:p>
        </p:txBody>
      </p:sp>
      <p:sp>
        <p:nvSpPr>
          <p:cNvPr id="31" name="Text 26"/>
          <p:cNvSpPr/>
          <p:nvPr/>
        </p:nvSpPr>
        <p:spPr>
          <a:xfrm>
            <a:off x="7540704" y="5821204"/>
            <a:ext cx="2279571" cy="279202"/>
          </a:xfrm>
          <a:prstGeom prst="rect">
            <a:avLst/>
          </a:prstGeom>
          <a:noFill/>
          <a:ln/>
        </p:spPr>
        <p:txBody>
          <a:bodyPr wrap="none" lIns="0" tIns="0" rIns="0" bIns="0" rtlCol="0" anchor="t"/>
          <a:lstStyle/>
          <a:p>
            <a:pPr algn="l" indent="0" marL="0">
              <a:lnSpc>
                <a:spcPts val="2150"/>
              </a:lnSpc>
              <a:buNone/>
            </a:pPr>
            <a:r>
              <a:rPr lang="en-US" sz="1750" dirty="0">
                <a:solidFill>
                  <a:srgbClr val="030303"/>
                </a:solidFill>
                <a:latin typeface="DM Sans Semi Bold" pitchFamily="34" charset="0"/>
                <a:ea typeface="DM Sans Semi Bold" pitchFamily="34" charset="-122"/>
                <a:cs typeface="DM Sans Semi Bold" pitchFamily="34" charset="-120"/>
              </a:rPr>
              <a:t>Resources &amp; Contact</a:t>
            </a:r>
            <a:endParaRPr lang="en-US" sz="1750" dirty="0"/>
          </a:p>
        </p:txBody>
      </p:sp>
      <p:sp>
        <p:nvSpPr>
          <p:cNvPr id="32" name="Text 27"/>
          <p:cNvSpPr/>
          <p:nvPr/>
        </p:nvSpPr>
        <p:spPr>
          <a:xfrm>
            <a:off x="7540704" y="6278999"/>
            <a:ext cx="6382703" cy="857607"/>
          </a:xfrm>
          <a:prstGeom prst="rect">
            <a:avLst/>
          </a:prstGeom>
          <a:noFill/>
          <a:ln/>
        </p:spPr>
        <p:txBody>
          <a:bodyPr wrap="square" lIns="0" tIns="0" rIns="0" bIns="0" rtlCol="0" anchor="t"/>
          <a:lstStyle/>
          <a:p>
            <a:pPr algn="l" indent="0" marL="0">
              <a:lnSpc>
                <a:spcPts val="2250"/>
              </a:lnSpc>
              <a:buNone/>
            </a:pPr>
            <a:r>
              <a:rPr lang="en-US" sz="1400" b="1" dirty="0">
                <a:solidFill>
                  <a:srgbClr val="464646"/>
                </a:solidFill>
                <a:latin typeface="Inter Medium" pitchFamily="34" charset="0"/>
                <a:ea typeface="Inter Medium" pitchFamily="34" charset="-122"/>
                <a:cs typeface="Inter Medium" pitchFamily="34" charset="-120"/>
              </a:rPr>
              <a:t>Bala Anbalagan</a:t>
            </a:r>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San Jose State University</a:t>
            </a:r>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bala.anbalagan@sjsu.edu</a:t>
            </a:r>
            <a:endParaRPr lang="en-US" sz="1400" dirty="0"/>
          </a:p>
        </p:txBody>
      </p:sp>
      <p:sp>
        <p:nvSpPr>
          <p:cNvPr id="33" name="Text 28"/>
          <p:cNvSpPr/>
          <p:nvPr/>
        </p:nvSpPr>
        <p:spPr>
          <a:xfrm>
            <a:off x="7540704" y="7297341"/>
            <a:ext cx="6382703" cy="285869"/>
          </a:xfrm>
          <a:prstGeom prst="rect">
            <a:avLst/>
          </a:prstGeom>
          <a:noFill/>
          <a:ln/>
        </p:spPr>
        <p:txBody>
          <a:bodyPr wrap="none" lIns="0" tIns="0" rIns="0" bIns="0" rtlCol="0" anchor="t"/>
          <a:lstStyle/>
          <a:p>
            <a:pPr algn="l" indent="0" marL="0">
              <a:lnSpc>
                <a:spcPts val="2250"/>
              </a:lnSpc>
              <a:buNone/>
            </a:pPr>
            <a:r>
              <a:rPr lang="en-US" sz="1400" u="sng" dirty="0">
                <a:solidFill>
                  <a:srgbClr val="1C9770"/>
                </a:solidFill>
                <a:latin typeface="Inter Medium" pitchFamily="34" charset="0"/>
                <a:ea typeface="Inter Medium" pitchFamily="34" charset="-122"/>
                <a:cs typeface="Inter Medium"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 Repository</a:t>
            </a:r>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 | </a:t>
            </a:r>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Dataset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2025-11-29T05:17:13Z</dcterms:created>
  <dcterms:modified xsi:type="dcterms:W3CDTF">2025-11-29T05:17:13Z</dcterms:modified>
</cp:coreProperties>
</file>